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7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135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Voy a contar un trabajo de prospección de níquel a partir de 2.377 muestras de sedimento activo en el Occidente Antioqueño. Pero no voy a empezar por los resultados: voy a empezar por un mapa que no sirve.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mapa que sale por defecto. ¿Qué ven? Nada, un solo color. Ese es el punto. El EqualInterval reparte el RANGO, no los datos: el Ni va de 3 a 1500 ppm, así que cada clase mide 300 ppm, y el 99,9 % de las muestras está por debajo de 300.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Ésta es la advertencia más importante del trabajo. Una muestra de sedimento activo no caracteriza el lugar donde se recogió: integra toda su cuenca aguas arriba. Guarden esta idea, porque va a volver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Moran es literalmente una correlación: la que hay entre el valor de cada muestra y el promedio de sus vecinas. La pendiente de esa nube ES el índice. 0,750 con z de 64,6 significa absurdamente significativo: no hay duda de que hay 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Ojo con la hipótesis nula: aplicar Ripley contra aleatoriedad completa sería un error, porque las muestras solo existen en los cauces — detectaría que los ríos están agrupados. La nula correcta es el etiquetado aleatorio. Matiz: el ancho del GWR es adaptativo, su radio va de 1,5 a 6,2 km. Es una banda, no un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PCA busca, entre ocho variables correlacionadas, unos pocos ejes que resuman la variabilidad. La CP1 es mi narrativa entera en un resultado: el níquel viaja con la asociación de un arco volcánico máfico. No es una hipótesis que impuse: el dato la produjo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Imaginen que miden la estatura de niños en 50 colegios: hay variación entre colegios y dentro de cada colegio. El ICC es la proporción de la primera. Aquí los colegios son las unidades geológicas. 40 % es mucho para una sola variable en geoquímica de sedimentos. Y es el mismo número que invalida los p-valores del acto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no era "¿puedo predecir el Ni?" sino "¿me bastan los mapas?". La respuesta es: solo en parte. Y eso es información valiosa: me dice que necesito más que cartografía, que es lo que concluye el acto 6. Reporto el AUC validado, 0,68, no el in-sample de 0,69: un trabajo que desenmascara p-valores optimistas no puede encabezar con su propia métrica optimista.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Nada de "se identificaron zonas favorables". Blanco 11: Batolito de Sabanalarga, municipio de Liborina, 15 muestras anómalas, Ni mediano 200 ppm, a 2,7 km de la falla. Eso es un entregable. La KDE hay que leerla como TASA, no como conteo: corrige el sesgo de muestreo del acto 2. Ocho de los doce coinciden con lo que predijo la litología. Dos no, y son los que quiero ir a 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0535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análisis geoespacial para la caracterización de la distribución del Níquel</a:t>
            </a:r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7FCF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Occidente Antioqueño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CO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Zonas con potencial para la exploración</a:t>
            </a:r>
            <a:endParaRPr lang="es-CO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18872" cy="118872"/>
          </a:xfrm>
          <a:prstGeom prst="ellipse">
            <a:avLst/>
          </a:prstGeom>
          <a:solidFill>
            <a:srgbClr val="D99A4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97280" y="4041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León Arango Hernández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44074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Geoespacial · Facultad de Minas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Colombia, Sede Medellín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40416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2.377 muestras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503920" y="4443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477665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</a:t>
            </a: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200" b="1" dirty="0" err="1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</a:t>
            </a: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02920" y="6003266"/>
            <a:ext cx="10515600" cy="762206"/>
          </a:xfrm>
          <a:prstGeom prst="roundRect">
            <a:avLst>
              <a:gd name="adj" fmla="val 4138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594360" y="5833654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r>
              <a:rPr lang="en-US" sz="19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semicuantitativo</a:t>
            </a:r>
            <a:endParaRPr lang="en-US" sz="1900" b="1" dirty="0">
              <a:solidFill>
                <a:srgbClr val="B7410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CO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 toma sólo 17 valores discretos (valores preferidos de espectrometría de emisión): los histogramas son “de peine”, no campanas suaves. Es propiedad del método analítico.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C1D1E2B-4EF5-75C2-B7D1-F57F97F50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29000"/>
            <a:ext cx="9333409" cy="2465852"/>
          </a:xfrm>
          <a:prstGeom prst="rect">
            <a:avLst/>
          </a:prstGeom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AC14C36D-04E8-D1B6-CC85-FC982E7656D9}"/>
              </a:ext>
            </a:extLst>
          </p:cNvPr>
          <p:cNvSpPr/>
          <p:nvPr/>
        </p:nvSpPr>
        <p:spPr>
          <a:xfrm>
            <a:off x="502920" y="1295193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BE4E4"/>
            </a:solidFill>
            <a:prstDash val="solid"/>
          </a:ln>
          <a:effectLst>
            <a:outerShdw blurRad="76200" dist="25400" dir="5400000" algn="bl" rotWithShape="0">
              <a:srgbClr val="7A8A8A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BD71870-5A3A-BDFC-F366-BB62A9798DED}"/>
              </a:ext>
            </a:extLst>
          </p:cNvPr>
          <p:cNvSpPr/>
          <p:nvPr/>
        </p:nvSpPr>
        <p:spPr>
          <a:xfrm>
            <a:off x="594360" y="1404921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2.377</a:t>
            </a:r>
            <a:endParaRPr lang="en-US" sz="34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249B9CBC-0A08-DF98-F808-1C63490292D7}"/>
              </a:ext>
            </a:extLst>
          </p:cNvPr>
          <p:cNvSpPr/>
          <p:nvPr/>
        </p:nvSpPr>
        <p:spPr>
          <a:xfrm>
            <a:off x="612648" y="2099865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de Ni (ppm)</a:t>
            </a:r>
            <a:endParaRPr lang="en-US" sz="125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89103CE-C6F3-74DD-68CB-41E89647502F}"/>
              </a:ext>
            </a:extLst>
          </p:cNvPr>
          <p:cNvSpPr/>
          <p:nvPr/>
        </p:nvSpPr>
        <p:spPr>
          <a:xfrm>
            <a:off x="3200400" y="1295193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BE4E4"/>
            </a:solidFill>
            <a:prstDash val="solid"/>
          </a:ln>
          <a:effectLst>
            <a:outerShdw blurRad="76200" dist="25400" dir="5400000" algn="bl" rotWithShape="0">
              <a:srgbClr val="7A8A8A">
                <a:alpha val="3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64561CE2-7621-A9D0-893C-5C91E888553A}"/>
              </a:ext>
            </a:extLst>
          </p:cNvPr>
          <p:cNvSpPr/>
          <p:nvPr/>
        </p:nvSpPr>
        <p:spPr>
          <a:xfrm>
            <a:off x="3291840" y="1404921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9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19F1E1D-76CE-9AA2-3B4B-F2A55407AEC4}"/>
              </a:ext>
            </a:extLst>
          </p:cNvPr>
          <p:cNvSpPr/>
          <p:nvPr/>
        </p:nvSpPr>
        <p:spPr>
          <a:xfrm>
            <a:off x="3310128" y="2099865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F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· EPSG 3116</a:t>
            </a:r>
            <a:endParaRPr lang="en-US" sz="12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44D4E87-B613-EB47-F985-2A6D4536D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92528"/>
            <a:ext cx="3710616" cy="34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E8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Geológico</a:t>
            </a: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en-US" sz="3200" b="1" dirty="0" err="1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identificación</a:t>
            </a: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200" b="1" dirty="0" err="1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Anomalías</a:t>
            </a: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881465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04999" y="6013416"/>
            <a:ext cx="7712529" cy="719982"/>
          </a:xfrm>
          <a:prstGeom prst="roundRect">
            <a:avLst>
              <a:gd name="adj" fmla="val 2553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998617" y="6013416"/>
            <a:ext cx="7712529" cy="46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sedimento bajó de </a:t>
            </a:r>
            <a:r>
              <a:rPr lang="en-US" sz="1700" b="1" dirty="0" err="1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</a:t>
            </a:r>
            <a:r>
              <a:rPr lang="en-US" sz="17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7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muestra de sedimento activo integra los productos de meteorización de toda su cuenca. Asignarle la litología del polígono donde cayó es un error de atribución conocido.</a:t>
            </a:r>
            <a:endParaRPr lang="en-US" sz="17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2998D57-3A7A-E3D0-1494-177A33195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97" y="1628422"/>
            <a:ext cx="11524446" cy="392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E8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95097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Moran sobre 2.377 muestras · pesos de 5 vecinos más próximos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9224" y="5584767"/>
            <a:ext cx="2578608" cy="1143000"/>
          </a:xfrm>
          <a:prstGeom prst="roundRect">
            <a:avLst>
              <a:gd name="adj" fmla="val 4000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649224" y="5703639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0,750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9224" y="6215703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 global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55848" y="5584767"/>
            <a:ext cx="2578608" cy="1143000"/>
          </a:xfrm>
          <a:prstGeom prst="roundRect">
            <a:avLst>
              <a:gd name="adj" fmla="val 4000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3355848" y="5703639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64,6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355848" y="6215703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desviaciones sobre el azar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62472" y="5584767"/>
            <a:ext cx="2578608" cy="1143000"/>
          </a:xfrm>
          <a:prstGeom prst="roundRect">
            <a:avLst>
              <a:gd name="adj" fmla="val 4000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6062472" y="5703639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062472" y="6215703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en zonas ricas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769096" y="5584767"/>
            <a:ext cx="2578608" cy="1143000"/>
          </a:xfrm>
          <a:prstGeom prst="roundRect">
            <a:avLst>
              <a:gd name="adj" fmla="val 4000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8769096" y="5703639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769096" y="6215703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rarezas locales</a:t>
            </a:r>
            <a:endParaRPr lang="en-US" sz="11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0489EFA0-8FD7-FBAC-AA5D-36A4FED1D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842" y="1335024"/>
            <a:ext cx="9144000" cy="4139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E8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escala: 2 a 5 km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95097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500" i="1" dirty="0" err="1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aplicaron</a:t>
            </a:r>
            <a:r>
              <a:rPr lang="en-US" sz="1500" i="1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1500" i="1" dirty="0" err="1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r>
              <a:rPr lang="en-US" sz="1500" i="1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</a:t>
            </a:r>
            <a:r>
              <a:rPr lang="en-US" sz="1500" i="1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500" i="1" dirty="0" err="1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</a:t>
            </a:r>
            <a:endParaRPr lang="en-US" sz="1500" dirty="0"/>
          </a:p>
        </p:txBody>
      </p:sp>
      <p:pic>
        <p:nvPicPr>
          <p:cNvPr id="6" name="Image 0" descr="img/fig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572768"/>
            <a:ext cx="976122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572000"/>
            <a:ext cx="3429000" cy="1371600"/>
          </a:xfrm>
          <a:prstGeom prst="roundRect">
            <a:avLst>
              <a:gd name="adj" fmla="val 3333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77240" y="46817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 km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1206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anomalías vecinas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54315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puntos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70832" y="4572000"/>
            <a:ext cx="3429000" cy="1371600"/>
          </a:xfrm>
          <a:prstGeom prst="roundRect">
            <a:avLst>
              <a:gd name="adj" fmla="val 3333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370832" y="46817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 – 4,7 km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370832" y="51206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agrupamiento significativo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70832" y="54315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Etiquetado aleatorio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64424" y="4572000"/>
            <a:ext cx="3429000" cy="1371600"/>
          </a:xfrm>
          <a:prstGeom prst="roundRect">
            <a:avLst>
              <a:gd name="adj" fmla="val 3333"/>
            </a:avLst>
          </a:prstGeom>
          <a:solidFill>
            <a:srgbClr val="FDF0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7964424" y="468172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4,96 km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964424" y="51206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 de banda del GWR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64424" y="54315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 de AICc</a:t>
            </a:r>
            <a:endParaRPr lang="en-US" sz="105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822C5AC-6667-0B81-857A-96A61DAF4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329" y="304236"/>
            <a:ext cx="4209534" cy="12203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E8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níquel viaja con una firma máfica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95097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 sobre 8 elementos · log₁₀ y estandarización</a:t>
            </a:r>
            <a:endParaRPr lang="en-US" sz="1500" dirty="0"/>
          </a:p>
        </p:txBody>
      </p:sp>
      <p:pic>
        <p:nvPicPr>
          <p:cNvPr id="6" name="Image 0" descr="img/fi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292" y="1600200"/>
            <a:ext cx="7034936" cy="3154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983480"/>
            <a:ext cx="5120640" cy="1234440"/>
          </a:xfrm>
          <a:prstGeom prst="roundRect">
            <a:avLst>
              <a:gd name="adj" fmla="val 3704"/>
            </a:avLst>
          </a:prstGeom>
          <a:solidFill>
            <a:srgbClr val="FDF0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1051560" y="510235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 = 39 %  ·  el factor máfico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Ni, Ti, Cr, Ga, Co y Ba cargan juntos: la asociación de un arco volcánico </a:t>
            </a:r>
            <a:r>
              <a:rPr lang="en-US" sz="12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máfico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4983480"/>
            <a:ext cx="5120640" cy="1234440"/>
          </a:xfrm>
          <a:prstGeom prst="roundRect">
            <a:avLst>
              <a:gd name="adj" fmla="val 3704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6537960" y="5102352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CP2 = 15 %  ·  el cobre va aparte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Opone Zr a Cu. El cobre no acompaña al níquel (Spearman = 0,08): es un sistema distinto.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E8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explica la litología?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56211" y="876627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lineal mixto: 2.325 muestras anidadas en 64 unidades geológicas — sin agregar nada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7720" y="1429078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D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= 0,40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748937" y="2651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40 % de la varianza del log(Ni)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PERTENECER a una unidad u otra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28360" y="1749771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1C445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202680" y="1932651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7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ICC mide DOS cosas a la vez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Cuánto explica la litología: 40 %.
2. Cuánta es la NO-INDEPENDENCIA: dos muestras de la misma unidad tienen correlación esperada de 0,40.
</a:t>
            </a:r>
            <a:endParaRPr lang="en-US" sz="17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B546E24-3DE3-8C7F-040B-6769A00B5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585" y="4431681"/>
            <a:ext cx="7866098" cy="1460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E8C8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¿Bastan los mapas? Solo en parte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95097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restringida a propósito: solo litología y distancia a falla</a:t>
            </a:r>
            <a:endParaRPr lang="en-US" sz="1500" dirty="0"/>
          </a:p>
        </p:txBody>
      </p:sp>
      <p:pic>
        <p:nvPicPr>
          <p:cNvPr id="6" name="Image 0" descr="img/fig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" y="1572768"/>
            <a:ext cx="9482328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572000"/>
            <a:ext cx="3429000" cy="1234440"/>
          </a:xfrm>
          <a:prstGeom prst="roundRect">
            <a:avLst>
              <a:gd name="adj" fmla="val 3704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77240" y="46817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0,68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por CV — la métrica honesta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0832" y="4572000"/>
            <a:ext cx="3429000" cy="1234440"/>
          </a:xfrm>
          <a:prstGeom prst="roundRect">
            <a:avLst>
              <a:gd name="adj" fmla="val 3704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4370832" y="46817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94,9 %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07992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"exactitud"… que es la proporción de no-anomalías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64424" y="4572000"/>
            <a:ext cx="3429000" cy="1234440"/>
          </a:xfrm>
          <a:prstGeom prst="roundRect">
            <a:avLst>
              <a:gd name="adj" fmla="val 3704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7964424" y="46817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9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101584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detecta NI UNA anomalía con umbral 0,5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espejismo de la exactitud: la salida útil no es la clase, es la probabilidad. Incluir Cr o Co mejoraría el AUC — y sería circular: tampoco los conoces antes de muestrear.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D99A4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buscar: 12 blancos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34440" y="95097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con parámetros derivados del dato, no de la intuición · eps = 3 km</a:t>
            </a:r>
            <a:endParaRPr lang="en-US" sz="1500" dirty="0"/>
          </a:p>
        </p:txBody>
      </p:sp>
      <p:pic>
        <p:nvPicPr>
          <p:cNvPr id="6" name="Image 0" descr="img/fig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2" y="1459121"/>
            <a:ext cx="12036156" cy="4136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5457" y="5753100"/>
            <a:ext cx="5120640" cy="1016726"/>
          </a:xfrm>
          <a:prstGeom prst="roundRect">
            <a:avLst>
              <a:gd name="adj" fmla="val 3429"/>
            </a:avLst>
          </a:prstGeom>
          <a:solidFill>
            <a:srgbClr val="FDF0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86384" y="580644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B741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 11 — Liborina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Batolito de Sabanalarga + esquistos actinolíticos
</a:t>
            </a:r>
            <a:r>
              <a:rPr lang="en-US" sz="13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anomalías · Ni 200 ppm · a 2,7 km de falla
</a:t>
            </a:r>
            <a:r>
              <a:rPr lang="en-US" sz="12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mayor. Fases gabroicas conocidas: exige campo.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09211" y="5753100"/>
            <a:ext cx="5120640" cy="1016726"/>
          </a:xfrm>
          <a:prstGeom prst="roundRect">
            <a:avLst>
              <a:gd name="adj" fmla="val 3429"/>
            </a:avLst>
          </a:prstGeom>
          <a:solidFill>
            <a:srgbClr val="F2F4F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6348551" y="57531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E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 0 — Dabeiba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Guineales
</a:t>
            </a:r>
            <a:r>
              <a:rPr lang="en-US" sz="1300" b="1" dirty="0">
                <a:solidFill>
                  <a:srgbClr val="123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anomalías · Ni 250 ppm — la mayor ley
</a:t>
            </a:r>
            <a:r>
              <a:rPr lang="en-US" sz="1200" i="1" dirty="0">
                <a:solidFill>
                  <a:srgbClr val="5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unidad que dispara el OR del acto 4: dos análisis independientes señalan el mismo sitio.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1113</Words>
  <Application>Microsoft Office PowerPoint</Application>
  <PresentationFormat>Panorámica</PresentationFormat>
  <Paragraphs>85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Diego León Arango Hernández</cp:lastModifiedBy>
  <cp:revision>4</cp:revision>
  <dcterms:created xsi:type="dcterms:W3CDTF">2026-07-17T01:47:08Z</dcterms:created>
  <dcterms:modified xsi:type="dcterms:W3CDTF">2026-07-17T06:17:29Z</dcterms:modified>
</cp:coreProperties>
</file>