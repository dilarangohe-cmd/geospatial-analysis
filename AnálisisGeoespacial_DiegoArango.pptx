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8002-315D-49B1-B10F-137139C4B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896" y="1122363"/>
            <a:ext cx="7276733" cy="3381398"/>
          </a:xfrm>
        </p:spPr>
        <p:txBody>
          <a:bodyPr anchor="b">
            <a:normAutofit/>
          </a:bodyPr>
          <a:lstStyle>
            <a:lvl1pPr algn="l">
              <a:defRPr sz="4800" cap="none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535E0-4D9C-4DCA-8569-64503C5DC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894" y="4612942"/>
            <a:ext cx="7276733" cy="1181683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83B68-70CF-4A98-948C-6EA4BD68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C2EF9-7F83-4AD3-B3F6-B9D4618D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751B-3464-41CD-B728-A72BB191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5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FD42-94A9-4345-AF38-7D562B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458-A63B-4032-B4EC-732DAC18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855B5-7F2F-408B-800D-92CB34B9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03412-EA6B-43CA-8B3A-F502587C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E9EE-F895-4ECE-B4B2-586D65ED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4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193F-AFAD-4A9A-B0EF-530DFB19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76299"/>
            <a:ext cx="7876722" cy="371316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BBE4-9FC1-4F89-B120-1C49D816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46170"/>
            <a:ext cx="6781301" cy="104845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0A6B-E3FD-4920-8128-C263CA1D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6B85-0649-47DB-AD69-458D8F60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5931-A293-42E9-BDF5-B2AE121D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7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262B-ECD6-47BB-A6F1-92A6033E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8779-51E9-44D1-9F7B-28F3C6D3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474" y="2080517"/>
            <a:ext cx="4970124" cy="39773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8BFB-5295-4C5E-9CB1-E276E9D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99" y="2080517"/>
            <a:ext cx="4970124" cy="397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22BF-1819-4301-B699-EF5A2F4D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0A2DF-39DE-49C3-A213-3E8423C7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3A8-238B-4A68-A9F9-672D2F06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9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468-D010-4225-B024-DCEF543B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71955"/>
            <a:ext cx="10441236" cy="139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D60A0-FCAB-425A-9ECD-94CDE4F4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926" y="1983242"/>
            <a:ext cx="5007110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986B-07CB-4FB0-9419-2AAB318B8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063" y="2813959"/>
            <a:ext cx="5007110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9D784-7968-4E8B-B704-E42EE8F18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9255" y="1983242"/>
            <a:ext cx="5031769" cy="814387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2000" b="0" cap="all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5754F-08D1-4593-988F-95F0ED1A0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9255" y="2813959"/>
            <a:ext cx="5031769" cy="32439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D2E61-83B4-4C8F-BBFE-D9592034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0C136-A664-4013-8073-B0C6BDEF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E9547-8EE7-461B-9E99-484B11E9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667-0EFA-4EE6-8E4D-20805309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59" y="895440"/>
            <a:ext cx="10138451" cy="1832349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E4825-BB8C-4567-B407-B4452409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38892-25DB-4A4E-9D43-6058C45C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DDDA-48EF-4B42-9980-4762AF5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2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FA7D9-6801-4DD0-8D7D-505212F4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FA3EA-1519-4178-AC3A-231A5BAA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3DBE-6FD6-4D60-8336-7843B4BD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D9AE-CA1A-4751-9B33-0AC09CE6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96948"/>
            <a:ext cx="3046410" cy="1479551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9941-76E5-42B5-8464-C1A7010D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96" y="876300"/>
            <a:ext cx="5758235" cy="5181599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785D8-F112-415F-9AB4-5F2AC060D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4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0A0B3-4E9C-4FAC-B1D1-2673F7B5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A370A-33F5-48A6-962A-47C0F15D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AD606-A37D-4697-AA7A-EAE4F101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4E0B5E-1030-4A34-AB09-05ACB45CE993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18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1D4C-0A93-40A6-9645-5EF7DE6C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989314"/>
            <a:ext cx="3046409" cy="1487185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F9455-852F-4604-87D4-801E8D5DB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4" y="876300"/>
            <a:ext cx="5943596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42061-B161-4973-9EE4-76D0B73F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666143"/>
            <a:ext cx="3046409" cy="31949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CE2E0-050A-4BC2-91DF-7A00811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AB003-B443-4B96-9DD9-4284E7E1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79DBA-16C0-4FFB-B367-B96169B4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F2BD78-1D6B-4742-9726-75646D91F4AC}"/>
              </a:ext>
            </a:extLst>
          </p:cNvPr>
          <p:cNvCxnSpPr>
            <a:cxnSpLocks/>
          </p:cNvCxnSpPr>
          <p:nvPr/>
        </p:nvCxnSpPr>
        <p:spPr>
          <a:xfrm>
            <a:off x="4610100" y="898989"/>
            <a:ext cx="0" cy="5138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59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5731-248B-49C2-93DE-8A3260C9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4D5C5-3D5A-4F3D-8A08-7053DACF1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E5372-3FC6-4227-B2DD-6CB24E6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B1B1-B637-4E46-B64C-F082B54C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567AD-4B78-41F6-B814-726D4BD4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74D5E-67E6-4C23-B80A-0C66B533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76299"/>
            <a:ext cx="2628900" cy="5181601"/>
          </a:xfrm>
        </p:spPr>
        <p:txBody>
          <a:bodyPr vert="eaVert"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EFF2A-08E8-447D-85C7-7D5A9C422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76299"/>
            <a:ext cx="773430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30D-E580-4B0C-B5A8-2C8A094D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51E3-958F-4611-B170-D081BA0250F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AEB-1B6E-492E-918E-47179AF4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4A38-A745-436E-9E33-63B9F81C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71EFB-7B9E-4E86-A89E-697E8EBB06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5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8CBCD-166B-4F97-A6DF-DAA3BF2B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760" y="876302"/>
            <a:ext cx="10427840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4D6D9-636D-450B-839A-22AE0CED2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758" y="2065984"/>
            <a:ext cx="10427841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CAEC-1EE5-4B71-9646-5C378EEBE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2838" y="6356350"/>
            <a:ext cx="3361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326951E3-958F-4611-B170-D081BA0250F9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70EF8-70B2-4AFC-8388-691A146AA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874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7DC7-D05C-4038-B51A-F00B7B9C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356350"/>
            <a:ext cx="617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i="1">
                <a:solidFill>
                  <a:schemeClr val="tx2"/>
                </a:solidFill>
              </a:defRPr>
            </a:lvl1pPr>
          </a:lstStyle>
          <a:p>
            <a:fld id="{57871EFB-7B9E-4E86-A89E-697E8EBB06F2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D4CCDA-06BF-4D2A-B44F-195AEC0B5B22}"/>
              </a:ext>
            </a:extLst>
          </p:cNvPr>
          <p:cNvCxnSpPr>
            <a:cxnSpLocks/>
          </p:cNvCxnSpPr>
          <p:nvPr/>
        </p:nvCxnSpPr>
        <p:spPr>
          <a:xfrm>
            <a:off x="952498" y="6252722"/>
            <a:ext cx="10325101" cy="0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47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Tx/>
        <a:buNone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None/>
        <a:defRPr sz="1600" i="1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1C0BCA8-B9D5-4F84-B063-ABE683EE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olibdeno - México Minero">
            <a:extLst>
              <a:ext uri="{FF2B5EF4-FFF2-40B4-BE49-F238E27FC236}">
                <a16:creationId xmlns:a16="http://schemas.microsoft.com/office/drawing/2014/main" id="{185E5AAF-0776-4812-01CE-B9BCAF263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1" b="22500"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3148D7B7-CAFA-4089-A365-6371A76FE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144236 w 12192000"/>
              <a:gd name="connsiteY0" fmla="*/ 859953 h 6858000"/>
              <a:gd name="connsiteX1" fmla="*/ 954990 w 12192000"/>
              <a:gd name="connsiteY1" fmla="*/ 3049201 h 6858000"/>
              <a:gd name="connsiteX2" fmla="*/ 954990 w 12192000"/>
              <a:gd name="connsiteY2" fmla="*/ 3317710 h 6858000"/>
              <a:gd name="connsiteX3" fmla="*/ 954990 w 12192000"/>
              <a:gd name="connsiteY3" fmla="*/ 6057900 h 6858000"/>
              <a:gd name="connsiteX4" fmla="*/ 5334000 w 12192000"/>
              <a:gd name="connsiteY4" fmla="*/ 6057900 h 6858000"/>
              <a:gd name="connsiteX5" fmla="*/ 5334000 w 12192000"/>
              <a:gd name="connsiteY5" fmla="*/ 3049201 h 6858000"/>
              <a:gd name="connsiteX6" fmla="*/ 3144755 w 12192000"/>
              <a:gd name="connsiteY6" fmla="*/ 859953 h 6858000"/>
              <a:gd name="connsiteX7" fmla="*/ 0 w 12192000"/>
              <a:gd name="connsiteY7" fmla="*/ 0 h 6858000"/>
              <a:gd name="connsiteX8" fmla="*/ 12192000 w 12192000"/>
              <a:gd name="connsiteY8" fmla="*/ 0 h 6858000"/>
              <a:gd name="connsiteX9" fmla="*/ 121920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3144236" y="859953"/>
                </a:moveTo>
                <a:cubicBezTo>
                  <a:pt x="1935127" y="859953"/>
                  <a:pt x="954990" y="1840119"/>
                  <a:pt x="954990" y="3049201"/>
                </a:cubicBezTo>
                <a:lnTo>
                  <a:pt x="954990" y="3317710"/>
                </a:lnTo>
                <a:lnTo>
                  <a:pt x="954990" y="6057900"/>
                </a:lnTo>
                <a:lnTo>
                  <a:pt x="5334000" y="6057900"/>
                </a:lnTo>
                <a:lnTo>
                  <a:pt x="5334000" y="3049201"/>
                </a:lnTo>
                <a:cubicBezTo>
                  <a:pt x="5334000" y="1840119"/>
                  <a:pt x="4353860" y="859953"/>
                  <a:pt x="3144755" y="85995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9E0CAB-FC4F-E436-A156-F6E834869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5663" y="1161232"/>
            <a:ext cx="5004176" cy="2485479"/>
          </a:xfrm>
        </p:spPr>
        <p:txBody>
          <a:bodyPr anchor="b">
            <a:normAutofit/>
          </a:bodyPr>
          <a:lstStyle/>
          <a:p>
            <a:r>
              <a:rPr lang="es-ES" b="1">
                <a:solidFill>
                  <a:srgbClr val="FFFFFF"/>
                </a:solidFill>
              </a:rPr>
              <a:t>Análisis Geoespacial</a:t>
            </a:r>
            <a:endParaRPr lang="es-CO" b="1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174BF6-5A93-435E-C11F-26FCD7C1C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004" y="4993240"/>
            <a:ext cx="3694048" cy="1137107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s-ES">
                <a:solidFill>
                  <a:srgbClr val="FFFFFF"/>
                </a:solidFill>
              </a:rPr>
              <a:t>Diego León Arango Hernández.</a:t>
            </a:r>
          </a:p>
          <a:p>
            <a:pPr>
              <a:lnSpc>
                <a:spcPct val="110000"/>
              </a:lnSpc>
            </a:pPr>
            <a:r>
              <a:rPr lang="es-ES">
                <a:solidFill>
                  <a:srgbClr val="FFFFFF"/>
                </a:solidFill>
              </a:rPr>
              <a:t>2026</a:t>
            </a:r>
            <a:endParaRPr lang="es-CO">
              <a:solidFill>
                <a:srgbClr val="FFFFFF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476E355-DC49-4AFB-88DE-62B854B9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9851" y="4003443"/>
            <a:ext cx="0" cy="2054457"/>
          </a:xfrm>
          <a:prstGeom prst="line">
            <a:avLst/>
          </a:prstGeom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80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64E93-D076-98CA-2054-E427F180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13" y="226445"/>
            <a:ext cx="10427840" cy="1086056"/>
          </a:xfrm>
        </p:spPr>
        <p:txBody>
          <a:bodyPr>
            <a:norm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Identificación del Problema</a:t>
            </a:r>
            <a:endParaRPr lang="es-CO" sz="2800" b="1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53112-3DA1-B717-C262-C436F1110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197" y="1312501"/>
            <a:ext cx="4974639" cy="390329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1600" dirty="0"/>
              <a:t>A pesar del creciente interés por minerales asociados a la transición energética, como el molibdeno, en Colombia existe una limitada caracterización geoquímica regional que permita su integración en estrategias de exploración.</a:t>
            </a:r>
          </a:p>
          <a:p>
            <a:pPr marL="0" indent="0" algn="just">
              <a:buNone/>
            </a:pPr>
            <a:r>
              <a:rPr lang="es-ES" sz="1600" dirty="0"/>
              <a:t>se vuelve pertinente desarrollar un modelo geoquímico del molibdeno en Antioquia, con el fin de mejorar la identificación de áreas con potencial mineral y aportar a la evaluación de su carácter estratégico para la transición energética.</a:t>
            </a:r>
            <a:endParaRPr lang="es-CO" sz="1600" dirty="0"/>
          </a:p>
          <a:p>
            <a:pPr marL="0" indent="0" algn="just">
              <a:buNone/>
            </a:pPr>
            <a:endParaRPr lang="es-CO" sz="16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4224B2C-E39A-D631-2596-E3AB0EC6B2FF}"/>
              </a:ext>
            </a:extLst>
          </p:cNvPr>
          <p:cNvSpPr txBox="1">
            <a:spLocks/>
          </p:cNvSpPr>
          <p:nvPr/>
        </p:nvSpPr>
        <p:spPr>
          <a:xfrm>
            <a:off x="7193048" y="226445"/>
            <a:ext cx="4141505" cy="1086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solidFill>
                  <a:schemeClr val="tx1"/>
                </a:solidFill>
              </a:rPr>
              <a:t>Pregunta de investigación</a:t>
            </a:r>
            <a:endParaRPr lang="es-CO" sz="2800" b="1" dirty="0">
              <a:solidFill>
                <a:schemeClr val="tx1"/>
              </a:solidFill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B17F1F9-3E1B-1E04-29FD-647A4E2EC722}"/>
              </a:ext>
            </a:extLst>
          </p:cNvPr>
          <p:cNvSpPr txBox="1">
            <a:spLocks/>
          </p:cNvSpPr>
          <p:nvPr/>
        </p:nvSpPr>
        <p:spPr>
          <a:xfrm>
            <a:off x="7193048" y="1777607"/>
            <a:ext cx="4853795" cy="3903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1600" dirty="0"/>
              <a:t>¿Cómo el uso de métodos de análisis geoespacial permite caracterizar la distribución del molibdeno en el departamento de Antioquia y contribuir a la identificación de zonas con potencial para la exploración mineral y su evaluación como recurso estratégico?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15E24AC-607E-3CA7-112A-BB658BC03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555608" y="2731530"/>
            <a:ext cx="5526666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44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4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2D58C6-7FBE-0B8A-7E6A-7112DD8F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4569407" cy="156008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Dataset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2060" name="Straight Connector 2056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B123F1-3286-BB4C-53DE-B80230C66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2" y="2753546"/>
            <a:ext cx="3979625" cy="3402555"/>
          </a:xfrm>
        </p:spPr>
        <p:txBody>
          <a:bodyPr anchor="t">
            <a:normAutofit/>
          </a:bodyPr>
          <a:lstStyle/>
          <a:p>
            <a:r>
              <a:rPr lang="es-ES" sz="1800" b="1" dirty="0"/>
              <a:t>Información tipo Punto</a:t>
            </a:r>
          </a:p>
          <a:p>
            <a:r>
              <a:rPr lang="es-ES" sz="1800" b="1" dirty="0"/>
              <a:t>99 muestras con resultados (ppm) de molibdeno en el departamento .</a:t>
            </a:r>
          </a:p>
          <a:p>
            <a:r>
              <a:rPr lang="es-ES" sz="1800" b="1" dirty="0"/>
              <a:t>Sedimentos activos de corriente.</a:t>
            </a:r>
          </a:p>
          <a:p>
            <a:r>
              <a:rPr lang="es-CO" sz="1800" b="1" dirty="0"/>
              <a:t>Espectrometría de Masas con Plasma Acoplado Inductivamente.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26B9CB9-5F37-356C-31F9-C60F856E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" r="39027"/>
          <a:stretch>
            <a:fillRect/>
          </a:stretch>
        </p:blipFill>
        <p:spPr bwMode="auto">
          <a:xfrm>
            <a:off x="6096000" y="-16591"/>
            <a:ext cx="6107073" cy="687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810B6A2-BAD9-C95E-5C56-A5EE59A29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1673" y="0"/>
            <a:ext cx="5334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56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02845A-8571-40C5-9F56-8F9B3F7C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757E4C-2A6B-E1BD-A6EF-2993B027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593" y="895440"/>
            <a:ext cx="4569407" cy="1560083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Información adicional: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0BB598-81B4-41BB-BC44-CD9C29AE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52500" y="2871627"/>
            <a:ext cx="0" cy="3186701"/>
          </a:xfrm>
          <a:prstGeom prst="line">
            <a:avLst/>
          </a:prstGeom>
          <a:ln w="1079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F1BB7F-D868-4638-7FF6-7C0BFC940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033" y="2753546"/>
            <a:ext cx="3746928" cy="3402555"/>
          </a:xfrm>
        </p:spPr>
        <p:txBody>
          <a:bodyPr anchor="t">
            <a:normAutofit/>
          </a:bodyPr>
          <a:lstStyle/>
          <a:p>
            <a:r>
              <a:rPr lang="es-ES" dirty="0"/>
              <a:t>Fallas (líneas)</a:t>
            </a:r>
          </a:p>
          <a:p>
            <a:r>
              <a:rPr lang="es-ES" dirty="0"/>
              <a:t>Geología (polígonos)</a:t>
            </a:r>
          </a:p>
          <a:p>
            <a:r>
              <a:rPr lang="es-ES" dirty="0"/>
              <a:t>Limites administrativos, municipios (Polígonos)</a:t>
            </a:r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3B0E7B8-94D5-E219-8A47-37DE51E4D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304"/>
          <a:stretch>
            <a:fillRect/>
          </a:stretch>
        </p:blipFill>
        <p:spPr>
          <a:xfrm>
            <a:off x="5985049" y="0"/>
            <a:ext cx="620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81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8C61-E3A2-0430-74FB-56AF77B9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41" y="99925"/>
            <a:ext cx="10427840" cy="1086056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Objetivos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DAB7A-5B7A-4D68-6072-3AF5C5B7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79" y="1477351"/>
            <a:ext cx="10427841" cy="3903298"/>
          </a:xfrm>
        </p:spPr>
        <p:txBody>
          <a:bodyPr/>
          <a:lstStyle/>
          <a:p>
            <a:r>
              <a:rPr lang="es-ES" dirty="0"/>
              <a:t>Compilar, depurar y analizar la información geoquímica existente de molibdeno en sedimentos activos de corriente del departamento de Antioquia.</a:t>
            </a:r>
            <a:endParaRPr lang="es-CO" dirty="0"/>
          </a:p>
          <a:p>
            <a:r>
              <a:rPr lang="es-ES" dirty="0"/>
              <a:t>Elaborar un análisis exploratorio de la información existente, identificando patrones, valores anómalos y asociaciones con otros elementos.</a:t>
            </a:r>
            <a:endParaRPr lang="es-CO" dirty="0"/>
          </a:p>
          <a:p>
            <a:r>
              <a:rPr lang="es-ES" dirty="0"/>
              <a:t>Modelar la continuidad espacial del molibdeno mediante herramientas de análisis geoespacial.</a:t>
            </a:r>
          </a:p>
          <a:p>
            <a:r>
              <a:rPr lang="es-CO" dirty="0"/>
              <a:t>Identificar anomalías geoquímicas y su relación con el contexto geológico, con el fin de delimitar zonas con potencial para la exploración mineral.</a:t>
            </a:r>
            <a:endParaRPr lang="es-ES" dirty="0"/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79462171"/>
      </p:ext>
    </p:extLst>
  </p:cSld>
  <p:clrMapOvr>
    <a:masterClrMapping/>
  </p:clrMapOvr>
</p:sld>
</file>

<file path=ppt/theme/theme1.xml><?xml version="1.0" encoding="utf-8"?>
<a:theme xmlns:a="http://schemas.openxmlformats.org/drawingml/2006/main" name="VaultVTI">
  <a:themeElements>
    <a:clrScheme name="archway">
      <a:dk1>
        <a:sysClr val="windowText" lastClr="000000"/>
      </a:dk1>
      <a:lt1>
        <a:sysClr val="window" lastClr="FFFFFF"/>
      </a:lt1>
      <a:dk2>
        <a:srgbClr val="262626"/>
      </a:dk2>
      <a:lt2>
        <a:srgbClr val="CCC9C2"/>
      </a:lt2>
      <a:accent1>
        <a:srgbClr val="A85E3E"/>
      </a:accent1>
      <a:accent2>
        <a:srgbClr val="C3743C"/>
      </a:accent2>
      <a:accent3>
        <a:srgbClr val="CF6749"/>
      </a:accent3>
      <a:accent4>
        <a:srgbClr val="7D8B71"/>
      </a:accent4>
      <a:accent5>
        <a:srgbClr val="A37A59"/>
      </a:accent5>
      <a:accent6>
        <a:srgbClr val="AB8244"/>
      </a:accent6>
      <a:hlink>
        <a:srgbClr val="B94F31"/>
      </a:hlink>
      <a:folHlink>
        <a:srgbClr val="667458"/>
      </a:folHlink>
    </a:clrScheme>
    <a:fontScheme name="Custom 5">
      <a:majorFont>
        <a:latin typeface="Georgia Pro Light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ultVTI" id="{144E1EB0-F9F9-4F8D-8264-A2820BA0C47A}" vid="{3A992A48-7697-4A22-A884-B4A11E6218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252</Words>
  <Application>Microsoft Office PowerPoint</Application>
  <PresentationFormat>Panorámica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Georgia Pro Light</vt:lpstr>
      <vt:lpstr>VaultVTI</vt:lpstr>
      <vt:lpstr>Análisis Geoespacial</vt:lpstr>
      <vt:lpstr>Identificación del Problema</vt:lpstr>
      <vt:lpstr>Dataset</vt:lpstr>
      <vt:lpstr>Información adicional: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León Arango Hernández</dc:creator>
  <cp:lastModifiedBy>Diego León Arango Hernández</cp:lastModifiedBy>
  <cp:revision>1</cp:revision>
  <dcterms:created xsi:type="dcterms:W3CDTF">2026-05-06T02:14:53Z</dcterms:created>
  <dcterms:modified xsi:type="dcterms:W3CDTF">2026-05-06T03:09:14Z</dcterms:modified>
</cp:coreProperties>
</file>