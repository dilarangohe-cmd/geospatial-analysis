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8" r:id="rId5"/>
    <p:sldId id="259" r:id="rId6"/>
    <p:sldId id="260" r:id="rId7"/>
    <p:sldId id="261" r:id="rId8"/>
    <p:sldId id="269" r:id="rId9"/>
    <p:sldId id="264" r:id="rId10"/>
    <p:sldId id="265" r:id="rId11"/>
    <p:sldId id="270"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30"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189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Presento el trabajo: estimar una superficie continua de Níquel en el occidente antioqueño a partir de geoquímica de sedimentos, comparando métodos de interpolación e integrando el contexto geológico. 2377 muestras, 5 métodos.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La geoquímica de sedimentos integra la señal de las cuencas; el objetivo es tres cosas: superficie continua de Ni, comparar cinco métodos con validación cruzada, e interpretar el control geológico.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2377 muestras en 14 municipios. Lo más importante del dato: es semicuantitativo, sólo 17 valores discretos, por eso los histogramas se ven 'de peine'. No es error, es el método analítico; por eso trabajamos en log10.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E7EAE-BAA6-8FD9-91BB-55CD43079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CD873-AB1C-E054-349A-4165E37A1C6F}"/>
              </a:ext>
            </a:extLst>
          </p:cNvPr>
          <p:cNvSpPr>
            <a:spLocks noGrp="1" noRot="1" noChangeAspect="1"/>
          </p:cNvSpPr>
          <p:nvPr>
            <p:ph type="sldImg"/>
          </p:nvPr>
        </p:nvSpPr>
        <p:spPr/>
        <p:txBody>
          <a:bodyPr/>
          <a:lstStyle/>
          <a:p>
            <a:endParaRPr lang="es-CO"/>
          </a:p>
        </p:txBody>
      </p:sp>
      <p:sp>
        <p:nvSpPr>
          <p:cNvPr id="3" name="Notes Placeholder 2">
            <a:extLst>
              <a:ext uri="{FF2B5EF4-FFF2-40B4-BE49-F238E27FC236}">
                <a16:creationId xmlns:a16="http://schemas.microsoft.com/office/drawing/2014/main" id="{9AD9E016-011E-56B8-C8E6-264A70324450}"/>
              </a:ext>
            </a:extLst>
          </p:cNvPr>
          <p:cNvSpPr>
            <a:spLocks noGrp="1"/>
          </p:cNvSpPr>
          <p:nvPr>
            <p:ph type="body" idx="1"/>
          </p:nvPr>
        </p:nvSpPr>
        <p:spPr/>
        <p:txBody>
          <a:bodyPr/>
          <a:lstStyle/>
          <a:p>
            <a:r>
              <a:rPr lang="en-US" dirty="0"/>
              <a:t>2377 muestras en 14 municipios. Lo más importante del dato: es semicuantitativo, sólo 17 valores discretos, por eso los histogramas se ven 'de peine'. No es error, es el método analítico; por eso trabajamos en log10.</a:t>
            </a:r>
          </a:p>
        </p:txBody>
      </p:sp>
      <p:sp>
        <p:nvSpPr>
          <p:cNvPr id="4" name="Slide Number Placeholder 3">
            <a:extLst>
              <a:ext uri="{FF2B5EF4-FFF2-40B4-BE49-F238E27FC236}">
                <a16:creationId xmlns:a16="http://schemas.microsoft.com/office/drawing/2014/main" id="{BE453015-DFB8-C6CF-9646-4DC89786F28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670374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El flujo: preparación con capping y log10, exploratorio, variografía, interpolación con cinco métodos, y validación cruzada. Los cinco métodos van desde el vecino más cercano hasta el proceso </a:t>
            </a:r>
            <a:r>
              <a:rPr lang="en-US" dirty="0" err="1"/>
              <a:t>gaussiano</a:t>
            </a:r>
            <a:r>
              <a:rPr lang="en-US" dirty="0"/>
              <a:t>. La clave metodológica: todos se evalúan con la MISMA validación cruzada, para comparar objetivamente.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La variografía revela dos cosas: un nugget del 37% —mucha variabilidad de corto alcance— que fija un techo de R² cercano a 0.62 para CUALQUIER método; y una anisotropía N-S con razón 5.7 a 1, coherente con el grano estructural.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Comparando los cinco métodos: Kriging y Proceso Gaussiano dan el menor error y prácticamente empatan. IDW le sigue. Vecino y RBF quedan atrás. La cercanía entre los mejores confirma que el nugget limita a todos por igual.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F1D14-8CC4-1F71-8E1E-0FF3EB399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73ACE0-BDF0-E6C1-4093-A12349DDC685}"/>
              </a:ext>
            </a:extLst>
          </p:cNvPr>
          <p:cNvSpPr>
            <a:spLocks noGrp="1" noRot="1" noChangeAspect="1"/>
          </p:cNvSpPr>
          <p:nvPr>
            <p:ph type="sldImg"/>
          </p:nvPr>
        </p:nvSpPr>
        <p:spPr/>
        <p:txBody>
          <a:bodyPr/>
          <a:lstStyle/>
          <a:p>
            <a:endParaRPr lang="es-CO"/>
          </a:p>
        </p:txBody>
      </p:sp>
      <p:sp>
        <p:nvSpPr>
          <p:cNvPr id="3" name="Notes Placeholder 2">
            <a:extLst>
              <a:ext uri="{FF2B5EF4-FFF2-40B4-BE49-F238E27FC236}">
                <a16:creationId xmlns:a16="http://schemas.microsoft.com/office/drawing/2014/main" id="{E6D68EEE-0FB8-E221-9EA7-66A21AFE318E}"/>
              </a:ext>
            </a:extLst>
          </p:cNvPr>
          <p:cNvSpPr>
            <a:spLocks noGrp="1"/>
          </p:cNvSpPr>
          <p:nvPr>
            <p:ph type="body" idx="1"/>
          </p:nvPr>
        </p:nvSpPr>
        <p:spPr/>
        <p:txBody>
          <a:bodyPr/>
          <a:lstStyle/>
          <a:p>
            <a:r>
              <a:rPr lang="en-US" dirty="0"/>
              <a:t>Comparando los cinco métodos: Kriging y Proceso Gaussiano dan el menor error y prácticamente empatan. IDW le sigue. Vecino y RBF quedan atrás. La cercanía entre los mejores confirma que el nugget limita a todos por igual.</a:t>
            </a:r>
          </a:p>
        </p:txBody>
      </p:sp>
      <p:sp>
        <p:nvSpPr>
          <p:cNvPr id="4" name="Slide Number Placeholder 3">
            <a:extLst>
              <a:ext uri="{FF2B5EF4-FFF2-40B4-BE49-F238E27FC236}">
                <a16:creationId xmlns:a16="http://schemas.microsoft.com/office/drawing/2014/main" id="{9040177B-4030-326D-A3E2-E90C3A3128A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79691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Un resultado elegante: kriging y procesos gaussianos son el mismo estimador. Cuando le doy al GPR la misma covarianza del variograma, reproduce el kriging con correlación 0.996. La diferencia que se veía antes era sólo de hiperparámetros, no de método.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Al cruzar con la geología: el Ni alto se concentra en las secuencias vulcanosedimentarias del Cañasgordas y en las volcánicas máficas —procedencia del arco Barroso—, y es mínimo en los batolitos félsicos. La orientación N-S del dominio máfico coincide con las fallas Cauca-Romeral y con la anisotropía que encontramos geoestadísticamente. Todo cierra.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BFEEA-FAC3-403F-2BD3-DF0908563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38282-A14C-02D8-4F6D-9B41DC8267A3}"/>
              </a:ext>
            </a:extLst>
          </p:cNvPr>
          <p:cNvSpPr>
            <a:spLocks noGrp="1" noRot="1" noChangeAspect="1"/>
          </p:cNvSpPr>
          <p:nvPr>
            <p:ph type="sldImg"/>
          </p:nvPr>
        </p:nvSpPr>
        <p:spPr/>
        <p:txBody>
          <a:bodyPr/>
          <a:lstStyle/>
          <a:p>
            <a:endParaRPr lang="es-CO"/>
          </a:p>
        </p:txBody>
      </p:sp>
      <p:sp>
        <p:nvSpPr>
          <p:cNvPr id="3" name="Notes Placeholder 2">
            <a:extLst>
              <a:ext uri="{FF2B5EF4-FFF2-40B4-BE49-F238E27FC236}">
                <a16:creationId xmlns:a16="http://schemas.microsoft.com/office/drawing/2014/main" id="{0DF90D7C-6F23-B09C-B8A1-C29AF0884630}"/>
              </a:ext>
            </a:extLst>
          </p:cNvPr>
          <p:cNvSpPr>
            <a:spLocks noGrp="1"/>
          </p:cNvSpPr>
          <p:nvPr>
            <p:ph type="body" idx="1"/>
          </p:nvPr>
        </p:nvSpPr>
        <p:spPr/>
        <p:txBody>
          <a:bodyPr/>
          <a:lstStyle/>
          <a:p>
            <a:r>
              <a:rPr lang="en-US" dirty="0"/>
              <a:t>Al cruzar con la geología: el Ni alto se concentra en las secuencias vulcanosedimentarias del Cañasgordas y en las volcánicas máficas —procedencia del arco Barroso—, y es mínimo en los batolitos félsicos. La orientación N-S del dominio máfico coincide con las fallas Cauca-Romeral y con la anisotropía que encontramos geoestadísticamente. Todo cierra.</a:t>
            </a:r>
          </a:p>
        </p:txBody>
      </p:sp>
      <p:sp>
        <p:nvSpPr>
          <p:cNvPr id="4" name="Slide Number Placeholder 3">
            <a:extLst>
              <a:ext uri="{FF2B5EF4-FFF2-40B4-BE49-F238E27FC236}">
                <a16:creationId xmlns:a16="http://schemas.microsoft.com/office/drawing/2014/main" id="{748DF1C5-5AC7-FC48-12AC-29ABA8DE8AD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648369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En resumen: el nugget fija un techo estructural; la tendencia regional obliga a kriging de regresión; el smearing de Duan da estimación insesgada; kriging y GPR son el mismo estimador; y el Ni está controlado por las secuencias máficas del Cañasgordas y el grano N-S del Cauca-Romeral.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rPr lang="en-US" dirty="0"/>
              <a:t>Gracias. Los </a:t>
            </a:r>
            <a:r>
              <a:rPr lang="en-US" dirty="0" err="1"/>
              <a:t>próximos</a:t>
            </a:r>
            <a:r>
              <a:rPr lang="en-US" dirty="0"/>
              <a:t> pasos son cuantificar la relación con las fallas, el análisis multielemento Ni-Cr-Co, delimitar blancos de exploración e incorporar datos ICP-MS. Quedo atento a preguntas.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33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2333D"/>
          </a:solidFill>
          <a:ln/>
        </p:spPr>
        <p:txBody>
          <a:bodyPr/>
          <a:lstStyle/>
          <a:p>
            <a:endParaRPr lang="es-CO" sz="1400"/>
          </a:p>
        </p:txBody>
      </p:sp>
      <p:sp>
        <p:nvSpPr>
          <p:cNvPr id="3" name="Shape 1"/>
          <p:cNvSpPr/>
          <p:nvPr/>
        </p:nvSpPr>
        <p:spPr>
          <a:xfrm>
            <a:off x="9692640" y="-1280160"/>
            <a:ext cx="3840480" cy="3840480"/>
          </a:xfrm>
          <a:prstGeom prst="ellipse">
            <a:avLst/>
          </a:prstGeom>
          <a:solidFill>
            <a:srgbClr val="1F6E68">
              <a:alpha val="30000"/>
            </a:srgbClr>
          </a:solidFill>
          <a:ln/>
        </p:spPr>
        <p:txBody>
          <a:bodyPr/>
          <a:lstStyle/>
          <a:p>
            <a:endParaRPr lang="es-CO"/>
          </a:p>
        </p:txBody>
      </p:sp>
      <p:sp>
        <p:nvSpPr>
          <p:cNvPr id="4" name="Shape 2"/>
          <p:cNvSpPr/>
          <p:nvPr/>
        </p:nvSpPr>
        <p:spPr>
          <a:xfrm>
            <a:off x="10698480" y="4572000"/>
            <a:ext cx="2743200" cy="2743200"/>
          </a:xfrm>
          <a:prstGeom prst="ellipse">
            <a:avLst/>
          </a:prstGeom>
          <a:solidFill>
            <a:srgbClr val="D99A4E">
              <a:alpha val="18000"/>
            </a:srgbClr>
          </a:solidFill>
          <a:ln/>
        </p:spPr>
        <p:txBody>
          <a:bodyPr/>
          <a:lstStyle/>
          <a:p>
            <a:endParaRPr lang="es-CO"/>
          </a:p>
        </p:txBody>
      </p:sp>
      <p:sp>
        <p:nvSpPr>
          <p:cNvPr id="5" name="Text 3"/>
          <p:cNvSpPr/>
          <p:nvPr/>
        </p:nvSpPr>
        <p:spPr>
          <a:xfrm>
            <a:off x="731520" y="1051560"/>
            <a:ext cx="8229600" cy="365760"/>
          </a:xfrm>
          <a:prstGeom prst="rect">
            <a:avLst/>
          </a:prstGeom>
          <a:noFill/>
          <a:ln/>
        </p:spPr>
        <p:txBody>
          <a:bodyPr wrap="square" lIns="0" tIns="0" rIns="0" bIns="0" rtlCol="0" anchor="ctr"/>
          <a:lstStyle/>
          <a:p>
            <a:pPr marL="0" indent="0">
              <a:buNone/>
            </a:pPr>
            <a:r>
              <a:rPr lang="en-US" sz="1400" b="1" kern="0" spc="300" dirty="0">
                <a:solidFill>
                  <a:srgbClr val="D99A4E"/>
                </a:solidFill>
                <a:latin typeface="Calibri" pitchFamily="34" charset="0"/>
                <a:ea typeface="Calibri" pitchFamily="34" charset="-122"/>
                <a:cs typeface="Calibri" pitchFamily="34" charset="-120"/>
              </a:rPr>
              <a:t>ANÁLISIS GEOESPACIAL</a:t>
            </a:r>
            <a:endParaRPr lang="en-US" sz="1400" dirty="0"/>
          </a:p>
        </p:txBody>
      </p:sp>
      <p:sp>
        <p:nvSpPr>
          <p:cNvPr id="6" name="Text 4"/>
          <p:cNvSpPr/>
          <p:nvPr/>
        </p:nvSpPr>
        <p:spPr>
          <a:xfrm>
            <a:off x="731520" y="1554480"/>
            <a:ext cx="10241280" cy="1920240"/>
          </a:xfrm>
          <a:prstGeom prst="rect">
            <a:avLst/>
          </a:prstGeom>
          <a:noFill/>
          <a:ln/>
        </p:spPr>
        <p:txBody>
          <a:bodyPr wrap="square" lIns="0" tIns="0" rIns="0" bIns="0" rtlCol="0" anchor="ctr"/>
          <a:lstStyle/>
          <a:p>
            <a:pPr marL="0" indent="0">
              <a:lnSpc>
                <a:spcPts val="4400"/>
              </a:lnSpc>
              <a:buNone/>
            </a:pPr>
            <a:r>
              <a:rPr lang="es-CO" sz="3200" b="1" dirty="0">
                <a:solidFill>
                  <a:srgbClr val="FFFFFF"/>
                </a:solidFill>
                <a:latin typeface="Cambria" pitchFamily="34" charset="0"/>
                <a:ea typeface="Cambria" pitchFamily="34" charset="-122"/>
                <a:cs typeface="Cambria" pitchFamily="34" charset="-120"/>
              </a:rPr>
              <a:t>Métodos de análisis geoespacial para la caracterización de la distribución del Níquel en el occidente antioqueño</a:t>
            </a:r>
            <a:endParaRPr lang="en-US" sz="3200" dirty="0"/>
          </a:p>
        </p:txBody>
      </p:sp>
      <p:sp>
        <p:nvSpPr>
          <p:cNvPr id="7" name="Text 5"/>
          <p:cNvSpPr/>
          <p:nvPr/>
        </p:nvSpPr>
        <p:spPr>
          <a:xfrm>
            <a:off x="749808" y="3611880"/>
            <a:ext cx="10058400" cy="548640"/>
          </a:xfrm>
          <a:prstGeom prst="rect">
            <a:avLst/>
          </a:prstGeom>
          <a:noFill/>
          <a:ln/>
        </p:spPr>
        <p:txBody>
          <a:bodyPr wrap="square" lIns="0" tIns="0" rIns="0" bIns="0" rtlCol="0" anchor="ctr"/>
          <a:lstStyle/>
          <a:p>
            <a:pPr marL="0" indent="0">
              <a:buNone/>
            </a:pPr>
            <a:r>
              <a:rPr lang="es-CO" sz="1900" i="1" noProof="0" dirty="0">
                <a:solidFill>
                  <a:srgbClr val="CADCFC"/>
                </a:solidFill>
                <a:latin typeface="Calibri" pitchFamily="34" charset="0"/>
                <a:ea typeface="Calibri" pitchFamily="34" charset="-122"/>
                <a:cs typeface="Calibri" pitchFamily="34" charset="-120"/>
              </a:rPr>
              <a:t>Identificación de Zonas con potencial para la exploración</a:t>
            </a:r>
            <a:endParaRPr lang="es-CO" sz="1900" noProof="0" dirty="0"/>
          </a:p>
        </p:txBody>
      </p:sp>
      <p:sp>
        <p:nvSpPr>
          <p:cNvPr id="8" name="Shape 6"/>
          <p:cNvSpPr/>
          <p:nvPr/>
        </p:nvSpPr>
        <p:spPr>
          <a:xfrm>
            <a:off x="777240" y="4343400"/>
            <a:ext cx="2926080" cy="0"/>
          </a:xfrm>
          <a:prstGeom prst="line">
            <a:avLst/>
          </a:prstGeom>
          <a:noFill/>
          <a:ln w="25400">
            <a:solidFill>
              <a:srgbClr val="2E8C86"/>
            </a:solidFill>
            <a:prstDash val="solid"/>
          </a:ln>
        </p:spPr>
        <p:txBody>
          <a:bodyPr/>
          <a:lstStyle/>
          <a:p>
            <a:endParaRPr lang="es-CO"/>
          </a:p>
        </p:txBody>
      </p:sp>
      <p:sp>
        <p:nvSpPr>
          <p:cNvPr id="9" name="Text 7"/>
          <p:cNvSpPr/>
          <p:nvPr/>
        </p:nvSpPr>
        <p:spPr>
          <a:xfrm>
            <a:off x="777240" y="4572000"/>
            <a:ext cx="8229600" cy="822960"/>
          </a:xfrm>
          <a:prstGeom prst="rect">
            <a:avLst/>
          </a:prstGeom>
          <a:noFill/>
          <a:ln/>
        </p:spPr>
        <p:txBody>
          <a:bodyPr wrap="square" lIns="0" tIns="0" rIns="0" bIns="0" rtlCol="0" anchor="ctr"/>
          <a:lstStyle/>
          <a:p>
            <a:pPr marL="0" indent="0">
              <a:lnSpc>
                <a:spcPts val="2000"/>
              </a:lnSpc>
              <a:buNone/>
            </a:pPr>
            <a:r>
              <a:rPr lang="en-US" sz="1700" b="1" dirty="0">
                <a:solidFill>
                  <a:srgbClr val="FFFFFF"/>
                </a:solidFill>
                <a:latin typeface="Cambria" pitchFamily="34" charset="0"/>
                <a:ea typeface="Cambria" pitchFamily="34" charset="-122"/>
                <a:cs typeface="Cambria" pitchFamily="34" charset="-120"/>
              </a:rPr>
              <a:t>Diego León Arango Hernández</a:t>
            </a:r>
            <a:endParaRPr lang="en-US" sz="1700" dirty="0"/>
          </a:p>
          <a:p>
            <a:pPr marL="0" indent="0">
              <a:lnSpc>
                <a:spcPts val="2000"/>
              </a:lnSpc>
              <a:buNone/>
            </a:pPr>
            <a:r>
              <a:rPr lang="en-US" sz="1300" dirty="0">
                <a:solidFill>
                  <a:srgbClr val="9FB3B8"/>
                </a:solidFill>
                <a:latin typeface="Calibri" pitchFamily="34" charset="0"/>
                <a:ea typeface="Calibri" pitchFamily="34" charset="-122"/>
                <a:cs typeface="Calibri" pitchFamily="34" charset="-120"/>
              </a:rPr>
              <a:t>Facultad de Minas · Universidad Nacional de Colombia (Sede Medellín)</a:t>
            </a:r>
            <a:endParaRPr lang="en-US" sz="1700" dirty="0"/>
          </a:p>
        </p:txBody>
      </p:sp>
      <p:sp>
        <p:nvSpPr>
          <p:cNvPr id="10" name="Text 8"/>
          <p:cNvSpPr/>
          <p:nvPr/>
        </p:nvSpPr>
        <p:spPr>
          <a:xfrm>
            <a:off x="777240" y="5989320"/>
            <a:ext cx="10058400" cy="365760"/>
          </a:xfrm>
          <a:prstGeom prst="rect">
            <a:avLst/>
          </a:prstGeom>
          <a:noFill/>
          <a:ln/>
        </p:spPr>
        <p:txBody>
          <a:bodyPr wrap="square" lIns="0" tIns="0" rIns="0" bIns="0" rtlCol="0" anchor="ctr"/>
          <a:lstStyle/>
          <a:p>
            <a:pPr marL="0" indent="0">
              <a:buNone/>
            </a:pPr>
            <a:r>
              <a:rPr lang="en-US" sz="1300" b="1" kern="0" spc="100" dirty="0">
                <a:solidFill>
                  <a:srgbClr val="D99A4E"/>
                </a:solidFill>
                <a:latin typeface="Calibri" pitchFamily="34" charset="0"/>
                <a:ea typeface="Calibri" pitchFamily="34" charset="-122"/>
                <a:cs typeface="Calibri" pitchFamily="34" charset="-120"/>
              </a:rPr>
              <a:t>2.377 muestras   ·   5 interpoladores   ·   integración geológica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75488"/>
            <a:ext cx="475488" cy="475488"/>
          </a:xfrm>
          <a:prstGeom prst="ellipse">
            <a:avLst/>
          </a:prstGeom>
          <a:solidFill>
            <a:srgbClr val="2E8C86"/>
          </a:solidFill>
          <a:ln/>
        </p:spPr>
        <p:txBody>
          <a:bodyPr/>
          <a:lstStyle/>
          <a:p>
            <a:endParaRPr lang="es-CO"/>
          </a:p>
        </p:txBody>
      </p:sp>
      <p:sp>
        <p:nvSpPr>
          <p:cNvPr id="3" name="Text 1"/>
          <p:cNvSpPr/>
          <p:nvPr/>
        </p:nvSpPr>
        <p:spPr>
          <a:xfrm>
            <a:off x="502920" y="47548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143000" y="411480"/>
            <a:ext cx="10424160" cy="621792"/>
          </a:xfrm>
          <a:prstGeom prst="rect">
            <a:avLst/>
          </a:prstGeom>
          <a:noFill/>
          <a:ln/>
        </p:spPr>
        <p:txBody>
          <a:bodyPr wrap="square" lIns="0" tIns="0" rIns="0" bIns="0" rtlCol="0" anchor="ctr"/>
          <a:lstStyle/>
          <a:p>
            <a:pPr marL="0" indent="0" algn="l">
              <a:buNone/>
            </a:pPr>
            <a:r>
              <a:rPr lang="en-US" sz="2800" b="1" dirty="0">
                <a:solidFill>
                  <a:srgbClr val="1B2A30"/>
                </a:solidFill>
                <a:latin typeface="Cambria" pitchFamily="34" charset="0"/>
                <a:ea typeface="Cambria" pitchFamily="34" charset="-122"/>
                <a:cs typeface="Cambria" pitchFamily="34" charset="-120"/>
              </a:rPr>
              <a:t>Contexto y objetivo</a:t>
            </a:r>
            <a:endParaRPr lang="en-US" sz="2800" dirty="0"/>
          </a:p>
        </p:txBody>
      </p:sp>
      <p:sp>
        <p:nvSpPr>
          <p:cNvPr id="5" name="Text 3"/>
          <p:cNvSpPr/>
          <p:nvPr/>
        </p:nvSpPr>
        <p:spPr>
          <a:xfrm>
            <a:off x="640080" y="1554480"/>
            <a:ext cx="5669280" cy="2011680"/>
          </a:xfrm>
          <a:prstGeom prst="rect">
            <a:avLst/>
          </a:prstGeom>
          <a:noFill/>
          <a:ln/>
        </p:spPr>
        <p:txBody>
          <a:bodyPr wrap="square" lIns="0" tIns="0" rIns="0" bIns="0" rtlCol="0" anchor="t"/>
          <a:lstStyle/>
          <a:p>
            <a:pPr marL="0" indent="0">
              <a:lnSpc>
                <a:spcPts val="2400"/>
              </a:lnSpc>
              <a:buNone/>
            </a:pPr>
            <a:r>
              <a:rPr lang="es-CO" sz="1600" noProof="0" dirty="0">
                <a:solidFill>
                  <a:srgbClr val="1B2A30"/>
                </a:solidFill>
                <a:latin typeface="Calibri" pitchFamily="34" charset="0"/>
                <a:ea typeface="Calibri" pitchFamily="34" charset="-122"/>
                <a:cs typeface="Calibri" pitchFamily="34" charset="-120"/>
              </a:rPr>
              <a:t>La geoquímica de sedimentos activos de corriente  </a:t>
            </a:r>
            <a:r>
              <a:rPr lang="es-CO" sz="1600" b="1" noProof="0" dirty="0">
                <a:solidFill>
                  <a:srgbClr val="1F6E68"/>
                </a:solidFill>
                <a:latin typeface="Calibri" pitchFamily="34" charset="0"/>
                <a:ea typeface="Calibri" pitchFamily="34" charset="-122"/>
                <a:cs typeface="Calibri" pitchFamily="34" charset="-120"/>
              </a:rPr>
              <a:t>(Datos tipo punto)</a:t>
            </a:r>
            <a:r>
              <a:rPr lang="es-CO" sz="1600" noProof="0" dirty="0">
                <a:solidFill>
                  <a:srgbClr val="1B2A30"/>
                </a:solidFill>
                <a:latin typeface="Calibri" pitchFamily="34" charset="0"/>
                <a:ea typeface="Calibri" pitchFamily="34" charset="-122"/>
                <a:cs typeface="Calibri" pitchFamily="34" charset="-120"/>
              </a:rPr>
              <a:t> es una herramienta clave en exploración regional. </a:t>
            </a:r>
          </a:p>
          <a:p>
            <a:pPr marL="0" indent="0">
              <a:lnSpc>
                <a:spcPts val="2400"/>
              </a:lnSpc>
              <a:buNone/>
            </a:pPr>
            <a:endParaRPr lang="es-CO" sz="1600" noProof="0" dirty="0">
              <a:solidFill>
                <a:srgbClr val="1B2A30"/>
              </a:solidFill>
              <a:latin typeface="Calibri" pitchFamily="34" charset="0"/>
              <a:ea typeface="Calibri" pitchFamily="34" charset="-122"/>
              <a:cs typeface="Calibri" pitchFamily="34" charset="-120"/>
            </a:endParaRPr>
          </a:p>
          <a:p>
            <a:pPr marL="0" indent="0">
              <a:lnSpc>
                <a:spcPts val="2400"/>
              </a:lnSpc>
              <a:buNone/>
            </a:pPr>
            <a:r>
              <a:rPr lang="es-CO" sz="1600" noProof="0" dirty="0">
                <a:solidFill>
                  <a:srgbClr val="1B2A30"/>
                </a:solidFill>
                <a:latin typeface="Calibri" pitchFamily="34" charset="0"/>
                <a:ea typeface="Calibri" pitchFamily="34" charset="-122"/>
                <a:cs typeface="Calibri" pitchFamily="34" charset="-120"/>
              </a:rPr>
              <a:t>Se utiliza como zona de estudio la subregión del occidente Antioqueño</a:t>
            </a:r>
          </a:p>
          <a:p>
            <a:pPr marL="0" indent="0">
              <a:lnSpc>
                <a:spcPts val="2400"/>
              </a:lnSpc>
              <a:buNone/>
            </a:pPr>
            <a:endParaRPr lang="es-CO" sz="1600" noProof="0" dirty="0">
              <a:solidFill>
                <a:srgbClr val="1B2A30"/>
              </a:solidFill>
              <a:latin typeface="Calibri" pitchFamily="34" charset="0"/>
              <a:ea typeface="Calibri" pitchFamily="34" charset="-122"/>
              <a:cs typeface="Calibri" pitchFamily="34" charset="-120"/>
            </a:endParaRPr>
          </a:p>
          <a:p>
            <a:pPr marL="0" indent="0">
              <a:lnSpc>
                <a:spcPts val="2400"/>
              </a:lnSpc>
              <a:buNone/>
            </a:pPr>
            <a:r>
              <a:rPr lang="es-CO" sz="1600" noProof="0" dirty="0">
                <a:solidFill>
                  <a:srgbClr val="1B2A30"/>
                </a:solidFill>
                <a:latin typeface="Calibri" pitchFamily="34" charset="0"/>
                <a:ea typeface="Calibri" pitchFamily="34" charset="-122"/>
                <a:cs typeface="Calibri" pitchFamily="34" charset="-120"/>
              </a:rPr>
              <a:t>convertir el muestreo puntual en una </a:t>
            </a:r>
            <a:r>
              <a:rPr lang="es-CO" sz="1600" b="1" noProof="0" dirty="0">
                <a:solidFill>
                  <a:srgbClr val="1F6E68"/>
                </a:solidFill>
                <a:latin typeface="Calibri" pitchFamily="34" charset="0"/>
                <a:ea typeface="Calibri" pitchFamily="34" charset="-122"/>
                <a:cs typeface="Calibri" pitchFamily="34" charset="-120"/>
              </a:rPr>
              <a:t>superficie continua</a:t>
            </a:r>
            <a:r>
              <a:rPr lang="es-CO" sz="1600" noProof="0" dirty="0">
                <a:solidFill>
                  <a:srgbClr val="1B2A30"/>
                </a:solidFill>
                <a:latin typeface="Calibri" pitchFamily="34" charset="0"/>
                <a:ea typeface="Calibri" pitchFamily="34" charset="-122"/>
                <a:cs typeface="Calibri" pitchFamily="34" charset="-120"/>
              </a:rPr>
              <a:t> permite interpretar el control geológico y delimitar blancos.</a:t>
            </a:r>
            <a:endParaRPr lang="es-CO" sz="1600" noProof="0" dirty="0"/>
          </a:p>
        </p:txBody>
      </p:sp>
      <p:sp>
        <p:nvSpPr>
          <p:cNvPr id="6" name="Text 4"/>
          <p:cNvSpPr/>
          <p:nvPr/>
        </p:nvSpPr>
        <p:spPr>
          <a:xfrm>
            <a:off x="640080" y="3657600"/>
            <a:ext cx="5669280" cy="914400"/>
          </a:xfrm>
          <a:prstGeom prst="rect">
            <a:avLst/>
          </a:prstGeom>
          <a:noFill/>
          <a:ln/>
        </p:spPr>
        <p:txBody>
          <a:bodyPr wrap="square" lIns="0" tIns="0" rIns="0" bIns="0" rtlCol="0" anchor="t"/>
          <a:lstStyle/>
          <a:p>
            <a:pPr marL="0" indent="0">
              <a:lnSpc>
                <a:spcPts val="2000"/>
              </a:lnSpc>
              <a:buNone/>
            </a:pPr>
            <a:endParaRPr lang="en-US" sz="1400" dirty="0"/>
          </a:p>
        </p:txBody>
      </p:sp>
      <p:sp>
        <p:nvSpPr>
          <p:cNvPr id="7" name="Shape 5"/>
          <p:cNvSpPr/>
          <p:nvPr/>
        </p:nvSpPr>
        <p:spPr>
          <a:xfrm>
            <a:off x="6675120" y="1508760"/>
            <a:ext cx="4937760" cy="1417320"/>
          </a:xfrm>
          <a:prstGeom prst="roundRect">
            <a:avLst>
              <a:gd name="adj" fmla="val 5161"/>
            </a:avLst>
          </a:prstGeom>
          <a:solidFill>
            <a:srgbClr val="EEF3F3"/>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8" name="Shape 6"/>
          <p:cNvSpPr/>
          <p:nvPr/>
        </p:nvSpPr>
        <p:spPr>
          <a:xfrm>
            <a:off x="6903720" y="1764792"/>
            <a:ext cx="868680" cy="868680"/>
          </a:xfrm>
          <a:prstGeom prst="ellipse">
            <a:avLst/>
          </a:prstGeom>
          <a:solidFill>
            <a:srgbClr val="2E8C86"/>
          </a:solidFill>
          <a:ln/>
        </p:spPr>
        <p:txBody>
          <a:bodyPr/>
          <a:lstStyle/>
          <a:p>
            <a:endParaRPr lang="es-CO"/>
          </a:p>
        </p:txBody>
      </p:sp>
      <p:sp>
        <p:nvSpPr>
          <p:cNvPr id="9" name="Text 7"/>
          <p:cNvSpPr/>
          <p:nvPr/>
        </p:nvSpPr>
        <p:spPr>
          <a:xfrm>
            <a:off x="6903720" y="1764792"/>
            <a:ext cx="868680" cy="8686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ext 8"/>
          <p:cNvSpPr/>
          <p:nvPr/>
        </p:nvSpPr>
        <p:spPr>
          <a:xfrm>
            <a:off x="8001000" y="1728216"/>
            <a:ext cx="3474720" cy="457200"/>
          </a:xfrm>
          <a:prstGeom prst="rect">
            <a:avLst/>
          </a:prstGeom>
          <a:noFill/>
          <a:ln/>
        </p:spPr>
        <p:txBody>
          <a:bodyPr wrap="square" lIns="0" tIns="0" rIns="0" bIns="0" rtlCol="0" anchor="ctr"/>
          <a:lstStyle/>
          <a:p>
            <a:pPr marL="0" indent="0">
              <a:buNone/>
            </a:pPr>
            <a:r>
              <a:rPr lang="en-US" sz="1700" b="1" dirty="0">
                <a:solidFill>
                  <a:srgbClr val="1B2A30"/>
                </a:solidFill>
                <a:latin typeface="Cambria" pitchFamily="34" charset="0"/>
                <a:ea typeface="Cambria" pitchFamily="34" charset="-122"/>
                <a:cs typeface="Cambria" pitchFamily="34" charset="-120"/>
              </a:rPr>
              <a:t>Superficie continua</a:t>
            </a:r>
            <a:endParaRPr lang="en-US" sz="1700" dirty="0"/>
          </a:p>
        </p:txBody>
      </p:sp>
      <p:sp>
        <p:nvSpPr>
          <p:cNvPr id="11" name="Text 9"/>
          <p:cNvSpPr/>
          <p:nvPr/>
        </p:nvSpPr>
        <p:spPr>
          <a:xfrm>
            <a:off x="8001000" y="2167128"/>
            <a:ext cx="3429000" cy="640080"/>
          </a:xfrm>
          <a:prstGeom prst="rect">
            <a:avLst/>
          </a:prstGeom>
          <a:noFill/>
          <a:ln/>
        </p:spPr>
        <p:txBody>
          <a:bodyPr wrap="square" lIns="0" tIns="0" rIns="0" bIns="0" rtlCol="0" anchor="ctr"/>
          <a:lstStyle/>
          <a:p>
            <a:pPr marL="0" indent="0">
              <a:lnSpc>
                <a:spcPts val="1600"/>
              </a:lnSpc>
              <a:buNone/>
            </a:pPr>
            <a:r>
              <a:rPr lang="en-US" sz="1250" dirty="0">
                <a:solidFill>
                  <a:srgbClr val="5F6E73"/>
                </a:solidFill>
                <a:latin typeface="Calibri" pitchFamily="34" charset="0"/>
                <a:ea typeface="Calibri" pitchFamily="34" charset="-122"/>
                <a:cs typeface="Calibri" pitchFamily="34" charset="-120"/>
              </a:rPr>
              <a:t>Estimar Ni sobre toda el área con incertidumbre</a:t>
            </a:r>
            <a:endParaRPr lang="en-US" sz="1250" dirty="0"/>
          </a:p>
        </p:txBody>
      </p:sp>
      <p:sp>
        <p:nvSpPr>
          <p:cNvPr id="12" name="Shape 10"/>
          <p:cNvSpPr/>
          <p:nvPr/>
        </p:nvSpPr>
        <p:spPr>
          <a:xfrm>
            <a:off x="6675120" y="3108960"/>
            <a:ext cx="4937760" cy="1417320"/>
          </a:xfrm>
          <a:prstGeom prst="roundRect">
            <a:avLst>
              <a:gd name="adj" fmla="val 5161"/>
            </a:avLst>
          </a:prstGeom>
          <a:solidFill>
            <a:srgbClr val="EEF3F3"/>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13" name="Shape 11"/>
          <p:cNvSpPr/>
          <p:nvPr/>
        </p:nvSpPr>
        <p:spPr>
          <a:xfrm>
            <a:off x="6903720" y="3364992"/>
            <a:ext cx="868680" cy="868680"/>
          </a:xfrm>
          <a:prstGeom prst="ellipse">
            <a:avLst/>
          </a:prstGeom>
          <a:solidFill>
            <a:srgbClr val="2E8C86"/>
          </a:solidFill>
          <a:ln/>
        </p:spPr>
        <p:txBody>
          <a:bodyPr/>
          <a:lstStyle/>
          <a:p>
            <a:endParaRPr lang="es-CO"/>
          </a:p>
        </p:txBody>
      </p:sp>
      <p:sp>
        <p:nvSpPr>
          <p:cNvPr id="14" name="Text 12"/>
          <p:cNvSpPr/>
          <p:nvPr/>
        </p:nvSpPr>
        <p:spPr>
          <a:xfrm>
            <a:off x="6903720" y="3364992"/>
            <a:ext cx="868680" cy="8686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Text 13"/>
          <p:cNvSpPr/>
          <p:nvPr/>
        </p:nvSpPr>
        <p:spPr>
          <a:xfrm>
            <a:off x="8001000" y="3328416"/>
            <a:ext cx="3474720" cy="457200"/>
          </a:xfrm>
          <a:prstGeom prst="rect">
            <a:avLst/>
          </a:prstGeom>
          <a:noFill/>
          <a:ln/>
        </p:spPr>
        <p:txBody>
          <a:bodyPr wrap="square" lIns="0" tIns="0" rIns="0" bIns="0" rtlCol="0" anchor="ctr"/>
          <a:lstStyle/>
          <a:p>
            <a:pPr marL="0" indent="0">
              <a:buNone/>
            </a:pPr>
            <a:r>
              <a:rPr lang="en-US" sz="1700" b="1" dirty="0">
                <a:solidFill>
                  <a:srgbClr val="1B2A30"/>
                </a:solidFill>
                <a:latin typeface="Cambria" pitchFamily="34" charset="0"/>
                <a:ea typeface="Cambria" pitchFamily="34" charset="-122"/>
                <a:cs typeface="Cambria" pitchFamily="34" charset="-120"/>
              </a:rPr>
              <a:t>Comparar métodos</a:t>
            </a:r>
            <a:endParaRPr lang="en-US" sz="1700" dirty="0"/>
          </a:p>
        </p:txBody>
      </p:sp>
      <p:sp>
        <p:nvSpPr>
          <p:cNvPr id="16" name="Text 14"/>
          <p:cNvSpPr/>
          <p:nvPr/>
        </p:nvSpPr>
        <p:spPr>
          <a:xfrm>
            <a:off x="8001000" y="3767328"/>
            <a:ext cx="3429000" cy="640080"/>
          </a:xfrm>
          <a:prstGeom prst="rect">
            <a:avLst/>
          </a:prstGeom>
          <a:noFill/>
          <a:ln/>
        </p:spPr>
        <p:txBody>
          <a:bodyPr wrap="square" lIns="0" tIns="0" rIns="0" bIns="0" rtlCol="0" anchor="ctr"/>
          <a:lstStyle/>
          <a:p>
            <a:pPr marL="0" indent="0">
              <a:lnSpc>
                <a:spcPts val="1600"/>
              </a:lnSpc>
              <a:buNone/>
            </a:pPr>
            <a:r>
              <a:rPr lang="en-US" sz="1250" dirty="0">
                <a:solidFill>
                  <a:srgbClr val="5F6E73"/>
                </a:solidFill>
                <a:latin typeface="Calibri" pitchFamily="34" charset="0"/>
                <a:ea typeface="Calibri" pitchFamily="34" charset="-122"/>
                <a:cs typeface="Calibri" pitchFamily="34" charset="-120"/>
              </a:rPr>
              <a:t>Cinco interpoladores bajo validación cruzada unificada</a:t>
            </a:r>
            <a:endParaRPr lang="en-US" sz="1250" dirty="0"/>
          </a:p>
        </p:txBody>
      </p:sp>
      <p:sp>
        <p:nvSpPr>
          <p:cNvPr id="17" name="Shape 15"/>
          <p:cNvSpPr/>
          <p:nvPr/>
        </p:nvSpPr>
        <p:spPr>
          <a:xfrm>
            <a:off x="6675120" y="4709160"/>
            <a:ext cx="4937760" cy="1417320"/>
          </a:xfrm>
          <a:prstGeom prst="roundRect">
            <a:avLst>
              <a:gd name="adj" fmla="val 5161"/>
            </a:avLst>
          </a:prstGeom>
          <a:solidFill>
            <a:srgbClr val="EEF3F3"/>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18" name="Shape 16"/>
          <p:cNvSpPr/>
          <p:nvPr/>
        </p:nvSpPr>
        <p:spPr>
          <a:xfrm>
            <a:off x="6903720" y="4965192"/>
            <a:ext cx="868680" cy="868680"/>
          </a:xfrm>
          <a:prstGeom prst="ellipse">
            <a:avLst/>
          </a:prstGeom>
          <a:solidFill>
            <a:srgbClr val="D99A4E"/>
          </a:solidFill>
          <a:ln/>
        </p:spPr>
        <p:txBody>
          <a:bodyPr/>
          <a:lstStyle/>
          <a:p>
            <a:endParaRPr lang="es-CO"/>
          </a:p>
        </p:txBody>
      </p:sp>
      <p:sp>
        <p:nvSpPr>
          <p:cNvPr id="19" name="Text 17"/>
          <p:cNvSpPr/>
          <p:nvPr/>
        </p:nvSpPr>
        <p:spPr>
          <a:xfrm>
            <a:off x="6903720" y="4965192"/>
            <a:ext cx="868680" cy="8686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Text 18"/>
          <p:cNvSpPr/>
          <p:nvPr/>
        </p:nvSpPr>
        <p:spPr>
          <a:xfrm>
            <a:off x="8001000" y="4928616"/>
            <a:ext cx="3474720" cy="457200"/>
          </a:xfrm>
          <a:prstGeom prst="rect">
            <a:avLst/>
          </a:prstGeom>
          <a:noFill/>
          <a:ln/>
        </p:spPr>
        <p:txBody>
          <a:bodyPr wrap="square" lIns="0" tIns="0" rIns="0" bIns="0" rtlCol="0" anchor="ctr"/>
          <a:lstStyle/>
          <a:p>
            <a:pPr marL="0" indent="0">
              <a:buNone/>
            </a:pPr>
            <a:r>
              <a:rPr lang="en-US" sz="1700" b="1" dirty="0">
                <a:solidFill>
                  <a:srgbClr val="1B2A30"/>
                </a:solidFill>
                <a:latin typeface="Cambria" pitchFamily="34" charset="0"/>
                <a:ea typeface="Cambria" pitchFamily="34" charset="-122"/>
                <a:cs typeface="Cambria" pitchFamily="34" charset="-120"/>
              </a:rPr>
              <a:t>Interpretar la geología</a:t>
            </a:r>
            <a:endParaRPr lang="en-US" sz="1700" dirty="0"/>
          </a:p>
        </p:txBody>
      </p:sp>
      <p:sp>
        <p:nvSpPr>
          <p:cNvPr id="21" name="Text 19"/>
          <p:cNvSpPr/>
          <p:nvPr/>
        </p:nvSpPr>
        <p:spPr>
          <a:xfrm>
            <a:off x="8001000" y="5367528"/>
            <a:ext cx="3429000" cy="640080"/>
          </a:xfrm>
          <a:prstGeom prst="rect">
            <a:avLst/>
          </a:prstGeom>
          <a:noFill/>
          <a:ln/>
        </p:spPr>
        <p:txBody>
          <a:bodyPr wrap="square" lIns="0" tIns="0" rIns="0" bIns="0" rtlCol="0" anchor="ctr"/>
          <a:lstStyle/>
          <a:p>
            <a:pPr marL="0" indent="0">
              <a:lnSpc>
                <a:spcPts val="1600"/>
              </a:lnSpc>
              <a:buNone/>
            </a:pPr>
            <a:r>
              <a:rPr lang="en-US" sz="1250" dirty="0">
                <a:solidFill>
                  <a:srgbClr val="5F6E73"/>
                </a:solidFill>
                <a:latin typeface="Calibri" pitchFamily="34" charset="0"/>
                <a:ea typeface="Calibri" pitchFamily="34" charset="-122"/>
                <a:cs typeface="Calibri" pitchFamily="34" charset="-120"/>
              </a:rPr>
              <a:t>Cruzar las anomalías con litología y estructuras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75488"/>
            <a:ext cx="475488" cy="475488"/>
          </a:xfrm>
          <a:prstGeom prst="ellipse">
            <a:avLst/>
          </a:prstGeom>
          <a:solidFill>
            <a:srgbClr val="2E8C86"/>
          </a:solidFill>
          <a:ln/>
        </p:spPr>
        <p:txBody>
          <a:bodyPr/>
          <a:lstStyle/>
          <a:p>
            <a:endParaRPr lang="es-CO"/>
          </a:p>
        </p:txBody>
      </p:sp>
      <p:sp>
        <p:nvSpPr>
          <p:cNvPr id="3" name="Text 1"/>
          <p:cNvSpPr/>
          <p:nvPr/>
        </p:nvSpPr>
        <p:spPr>
          <a:xfrm>
            <a:off x="502920" y="47548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p:nvPr/>
        </p:nvSpPr>
        <p:spPr>
          <a:xfrm>
            <a:off x="1143000" y="411480"/>
            <a:ext cx="10424160" cy="621792"/>
          </a:xfrm>
          <a:prstGeom prst="rect">
            <a:avLst/>
          </a:prstGeom>
          <a:noFill/>
          <a:ln/>
        </p:spPr>
        <p:txBody>
          <a:bodyPr wrap="square" lIns="0" tIns="0" rIns="0" bIns="0" rtlCol="0" anchor="ctr"/>
          <a:lstStyle/>
          <a:p>
            <a:pPr marL="0" indent="0" algn="l">
              <a:buNone/>
            </a:pPr>
            <a:r>
              <a:rPr lang="en-US" sz="2800" b="1" dirty="0">
                <a:solidFill>
                  <a:srgbClr val="1B2A30"/>
                </a:solidFill>
                <a:latin typeface="Cambria" pitchFamily="34" charset="0"/>
                <a:ea typeface="Cambria" pitchFamily="34" charset="-122"/>
                <a:cs typeface="Cambria" pitchFamily="34" charset="-120"/>
              </a:rPr>
              <a:t>Los datos: geoquímica de sedimentos</a:t>
            </a:r>
            <a:endParaRPr lang="en-US" sz="2800" dirty="0"/>
          </a:p>
        </p:txBody>
      </p:sp>
      <p:sp>
        <p:nvSpPr>
          <p:cNvPr id="6" name="Shape 3"/>
          <p:cNvSpPr/>
          <p:nvPr/>
        </p:nvSpPr>
        <p:spPr>
          <a:xfrm>
            <a:off x="6309360" y="1554480"/>
            <a:ext cx="2514600" cy="1371600"/>
          </a:xfrm>
          <a:prstGeom prst="roundRect">
            <a:avLst>
              <a:gd name="adj" fmla="val 5333"/>
            </a:avLst>
          </a:prstGeom>
          <a:solidFill>
            <a:srgbClr val="FFFFFF"/>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7" name="Text 4"/>
          <p:cNvSpPr/>
          <p:nvPr/>
        </p:nvSpPr>
        <p:spPr>
          <a:xfrm>
            <a:off x="6400800" y="1664208"/>
            <a:ext cx="2331720" cy="685800"/>
          </a:xfrm>
          <a:prstGeom prst="rect">
            <a:avLst/>
          </a:prstGeom>
          <a:noFill/>
          <a:ln/>
        </p:spPr>
        <p:txBody>
          <a:bodyPr wrap="square" lIns="0" tIns="0" rIns="0" bIns="0" rtlCol="0" anchor="ctr"/>
          <a:lstStyle/>
          <a:p>
            <a:pPr marL="0" indent="0" algn="ctr">
              <a:buNone/>
            </a:pPr>
            <a:r>
              <a:rPr lang="en-US" sz="3400" b="1" dirty="0">
                <a:solidFill>
                  <a:srgbClr val="1F6E68"/>
                </a:solidFill>
                <a:latin typeface="Cambria" pitchFamily="34" charset="0"/>
                <a:ea typeface="Cambria" pitchFamily="34" charset="-122"/>
                <a:cs typeface="Cambria" pitchFamily="34" charset="-120"/>
              </a:rPr>
              <a:t>2.377</a:t>
            </a:r>
            <a:endParaRPr lang="en-US" sz="3400" dirty="0"/>
          </a:p>
        </p:txBody>
      </p:sp>
      <p:sp>
        <p:nvSpPr>
          <p:cNvPr id="8" name="Text 5"/>
          <p:cNvSpPr/>
          <p:nvPr/>
        </p:nvSpPr>
        <p:spPr>
          <a:xfrm>
            <a:off x="6419088" y="2359152"/>
            <a:ext cx="2295144" cy="457200"/>
          </a:xfrm>
          <a:prstGeom prst="rect">
            <a:avLst/>
          </a:prstGeom>
          <a:noFill/>
          <a:ln/>
        </p:spPr>
        <p:txBody>
          <a:bodyPr wrap="square" lIns="0" tIns="0" rIns="0" bIns="0" rtlCol="0" anchor="t"/>
          <a:lstStyle/>
          <a:p>
            <a:pPr marL="0" indent="0" algn="ctr">
              <a:buNone/>
            </a:pPr>
            <a:r>
              <a:rPr lang="en-US" sz="1250" dirty="0">
                <a:solidFill>
                  <a:srgbClr val="5F6E73"/>
                </a:solidFill>
                <a:latin typeface="Calibri" pitchFamily="34" charset="0"/>
                <a:ea typeface="Calibri" pitchFamily="34" charset="-122"/>
                <a:cs typeface="Calibri" pitchFamily="34" charset="-120"/>
              </a:rPr>
              <a:t>muestras de Ni (ppm)</a:t>
            </a:r>
            <a:endParaRPr lang="en-US" sz="1250" dirty="0"/>
          </a:p>
        </p:txBody>
      </p:sp>
      <p:sp>
        <p:nvSpPr>
          <p:cNvPr id="9" name="Shape 6"/>
          <p:cNvSpPr/>
          <p:nvPr/>
        </p:nvSpPr>
        <p:spPr>
          <a:xfrm>
            <a:off x="9006840" y="1554480"/>
            <a:ext cx="2514600" cy="1371600"/>
          </a:xfrm>
          <a:prstGeom prst="roundRect">
            <a:avLst>
              <a:gd name="adj" fmla="val 5333"/>
            </a:avLst>
          </a:prstGeom>
          <a:solidFill>
            <a:srgbClr val="FFFFFF"/>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10" name="Text 7"/>
          <p:cNvSpPr/>
          <p:nvPr/>
        </p:nvSpPr>
        <p:spPr>
          <a:xfrm>
            <a:off x="9098280" y="1664208"/>
            <a:ext cx="2331720" cy="685800"/>
          </a:xfrm>
          <a:prstGeom prst="rect">
            <a:avLst/>
          </a:prstGeom>
          <a:noFill/>
          <a:ln/>
        </p:spPr>
        <p:txBody>
          <a:bodyPr wrap="square" lIns="0" tIns="0" rIns="0" bIns="0" rtlCol="0" anchor="ctr"/>
          <a:lstStyle/>
          <a:p>
            <a:pPr marL="0" indent="0" algn="ctr">
              <a:buNone/>
            </a:pPr>
            <a:r>
              <a:rPr lang="en-US" sz="3400" b="1" dirty="0">
                <a:solidFill>
                  <a:srgbClr val="D99A4E"/>
                </a:solidFill>
                <a:latin typeface="Cambria" pitchFamily="34" charset="0"/>
                <a:ea typeface="Cambria" pitchFamily="34" charset="-122"/>
                <a:cs typeface="Cambria" pitchFamily="34" charset="-120"/>
              </a:rPr>
              <a:t>14</a:t>
            </a:r>
            <a:endParaRPr lang="en-US" sz="3400" dirty="0"/>
          </a:p>
        </p:txBody>
      </p:sp>
      <p:sp>
        <p:nvSpPr>
          <p:cNvPr id="11" name="Text 8"/>
          <p:cNvSpPr/>
          <p:nvPr/>
        </p:nvSpPr>
        <p:spPr>
          <a:xfrm>
            <a:off x="9116568" y="2359152"/>
            <a:ext cx="2295144" cy="457200"/>
          </a:xfrm>
          <a:prstGeom prst="rect">
            <a:avLst/>
          </a:prstGeom>
          <a:noFill/>
          <a:ln/>
        </p:spPr>
        <p:txBody>
          <a:bodyPr wrap="square" lIns="0" tIns="0" rIns="0" bIns="0" rtlCol="0" anchor="t"/>
          <a:lstStyle/>
          <a:p>
            <a:pPr marL="0" indent="0" algn="ctr">
              <a:buNone/>
            </a:pPr>
            <a:r>
              <a:rPr lang="en-US" sz="1250" dirty="0">
                <a:solidFill>
                  <a:srgbClr val="5F6E73"/>
                </a:solidFill>
                <a:latin typeface="Calibri" pitchFamily="34" charset="0"/>
                <a:ea typeface="Calibri" pitchFamily="34" charset="-122"/>
                <a:cs typeface="Calibri" pitchFamily="34" charset="-120"/>
              </a:rPr>
              <a:t>municipios · EPSG 3116</a:t>
            </a:r>
            <a:endParaRPr lang="en-US" sz="1250" dirty="0"/>
          </a:p>
        </p:txBody>
      </p:sp>
      <p:sp>
        <p:nvSpPr>
          <p:cNvPr id="12" name="Shape 9"/>
          <p:cNvSpPr/>
          <p:nvPr/>
        </p:nvSpPr>
        <p:spPr>
          <a:xfrm>
            <a:off x="6309360" y="3154680"/>
            <a:ext cx="5212080" cy="3108960"/>
          </a:xfrm>
          <a:prstGeom prst="roundRect">
            <a:avLst>
              <a:gd name="adj" fmla="val 2353"/>
            </a:avLst>
          </a:prstGeom>
          <a:solidFill>
            <a:srgbClr val="EEF3F3"/>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13" name="Text 10"/>
          <p:cNvSpPr/>
          <p:nvPr/>
        </p:nvSpPr>
        <p:spPr>
          <a:xfrm>
            <a:off x="6537960" y="3291840"/>
            <a:ext cx="4754880" cy="457200"/>
          </a:xfrm>
          <a:prstGeom prst="rect">
            <a:avLst/>
          </a:prstGeom>
          <a:noFill/>
          <a:ln/>
        </p:spPr>
        <p:txBody>
          <a:bodyPr wrap="square" lIns="0" tIns="0" rIns="0" bIns="0" rtlCol="0" anchor="ctr"/>
          <a:lstStyle/>
          <a:p>
            <a:pPr marL="0" indent="0">
              <a:buNone/>
            </a:pPr>
            <a:r>
              <a:rPr lang="en-US" sz="1600" b="1" dirty="0" err="1">
                <a:solidFill>
                  <a:srgbClr val="1F6E68"/>
                </a:solidFill>
                <a:latin typeface="Cambria" pitchFamily="34" charset="0"/>
                <a:ea typeface="Cambria" pitchFamily="34" charset="-122"/>
                <a:cs typeface="Cambria" pitchFamily="34" charset="-120"/>
              </a:rPr>
              <a:t>Método</a:t>
            </a:r>
            <a:r>
              <a:rPr lang="en-US" sz="1600" b="1" dirty="0">
                <a:solidFill>
                  <a:srgbClr val="1F6E68"/>
                </a:solidFill>
                <a:latin typeface="Cambria" pitchFamily="34" charset="0"/>
                <a:ea typeface="Cambria" pitchFamily="34" charset="-122"/>
                <a:cs typeface="Cambria" pitchFamily="34" charset="-120"/>
              </a:rPr>
              <a:t> semicuantitativo</a:t>
            </a:r>
            <a:endParaRPr lang="en-US" sz="1600" dirty="0"/>
          </a:p>
        </p:txBody>
      </p:sp>
      <p:sp>
        <p:nvSpPr>
          <p:cNvPr id="14" name="Text 11"/>
          <p:cNvSpPr/>
          <p:nvPr/>
        </p:nvSpPr>
        <p:spPr>
          <a:xfrm>
            <a:off x="6537960" y="3703320"/>
            <a:ext cx="4800600" cy="1188720"/>
          </a:xfrm>
          <a:prstGeom prst="rect">
            <a:avLst/>
          </a:prstGeom>
          <a:noFill/>
          <a:ln/>
        </p:spPr>
        <p:txBody>
          <a:bodyPr wrap="square" lIns="0" tIns="0" rIns="0" bIns="0" rtlCol="0" anchor="t"/>
          <a:lstStyle/>
          <a:p>
            <a:pPr marL="0" indent="0">
              <a:lnSpc>
                <a:spcPts val="1600"/>
              </a:lnSpc>
              <a:buNone/>
            </a:pPr>
            <a:r>
              <a:rPr lang="en-US" sz="1250" dirty="0">
                <a:solidFill>
                  <a:srgbClr val="5F6E73"/>
                </a:solidFill>
                <a:latin typeface="Calibri" pitchFamily="34" charset="0"/>
                <a:ea typeface="Calibri" pitchFamily="34" charset="-122"/>
                <a:cs typeface="Calibri" pitchFamily="34" charset="-120"/>
              </a:rPr>
              <a:t>El Ni toma sólo </a:t>
            </a:r>
            <a:r>
              <a:rPr lang="en-US" sz="1250" b="1" dirty="0">
                <a:solidFill>
                  <a:srgbClr val="1B2A30"/>
                </a:solidFill>
                <a:latin typeface="Calibri" pitchFamily="34" charset="0"/>
                <a:ea typeface="Calibri" pitchFamily="34" charset="-122"/>
                <a:cs typeface="Calibri" pitchFamily="34" charset="-120"/>
              </a:rPr>
              <a:t>17 valores discretos</a:t>
            </a:r>
            <a:r>
              <a:rPr lang="en-US" sz="1250" dirty="0">
                <a:solidFill>
                  <a:srgbClr val="5F6E73"/>
                </a:solidFill>
                <a:latin typeface="Calibri" pitchFamily="34" charset="0"/>
                <a:ea typeface="Calibri" pitchFamily="34" charset="-122"/>
                <a:cs typeface="Calibri" pitchFamily="34" charset="-120"/>
              </a:rPr>
              <a:t> (valores preferidos de espectrometría de emisión): los histogramas son </a:t>
            </a:r>
            <a:r>
              <a:rPr lang="en-US" sz="1250" b="1" dirty="0">
                <a:solidFill>
                  <a:srgbClr val="1B2A30"/>
                </a:solidFill>
                <a:latin typeface="Calibri" pitchFamily="34" charset="0"/>
                <a:ea typeface="Calibri" pitchFamily="34" charset="-122"/>
                <a:cs typeface="Calibri" pitchFamily="34" charset="-120"/>
              </a:rPr>
              <a:t>“de peine”</a:t>
            </a:r>
            <a:r>
              <a:rPr lang="en-US" sz="1250" dirty="0">
                <a:solidFill>
                  <a:srgbClr val="5F6E73"/>
                </a:solidFill>
                <a:latin typeface="Calibri" pitchFamily="34" charset="0"/>
                <a:ea typeface="Calibri" pitchFamily="34" charset="-122"/>
                <a:cs typeface="Calibri" pitchFamily="34" charset="-120"/>
              </a:rPr>
              <a:t>, no campanas suaves. Es propiedad del </a:t>
            </a:r>
            <a:r>
              <a:rPr lang="en-US" sz="1250" dirty="0" err="1">
                <a:solidFill>
                  <a:srgbClr val="5F6E73"/>
                </a:solidFill>
                <a:latin typeface="Calibri" pitchFamily="34" charset="0"/>
                <a:ea typeface="Calibri" pitchFamily="34" charset="-122"/>
                <a:cs typeface="Calibri" pitchFamily="34" charset="-120"/>
              </a:rPr>
              <a:t>método</a:t>
            </a:r>
            <a:r>
              <a:rPr lang="en-US" sz="1250" dirty="0">
                <a:solidFill>
                  <a:srgbClr val="5F6E73"/>
                </a:solidFill>
                <a:latin typeface="Calibri" pitchFamily="34" charset="0"/>
                <a:ea typeface="Calibri" pitchFamily="34" charset="-122"/>
                <a:cs typeface="Calibri" pitchFamily="34" charset="-120"/>
              </a:rPr>
              <a:t> </a:t>
            </a:r>
            <a:r>
              <a:rPr lang="en-US" sz="1250" dirty="0" err="1">
                <a:solidFill>
                  <a:srgbClr val="5F6E73"/>
                </a:solidFill>
                <a:latin typeface="Calibri" pitchFamily="34" charset="0"/>
                <a:ea typeface="Calibri" pitchFamily="34" charset="-122"/>
                <a:cs typeface="Calibri" pitchFamily="34" charset="-120"/>
              </a:rPr>
              <a:t>analítico</a:t>
            </a:r>
            <a:r>
              <a:rPr lang="en-US" sz="1250" dirty="0">
                <a:solidFill>
                  <a:srgbClr val="5F6E73"/>
                </a:solidFill>
                <a:latin typeface="Calibri" pitchFamily="34" charset="0"/>
                <a:ea typeface="Calibri" pitchFamily="34" charset="-122"/>
                <a:cs typeface="Calibri" pitchFamily="34" charset="-120"/>
              </a:rPr>
              <a:t>.</a:t>
            </a:r>
            <a:endParaRPr lang="en-US" sz="1250" dirty="0"/>
          </a:p>
        </p:txBody>
      </p:sp>
      <p:pic>
        <p:nvPicPr>
          <p:cNvPr id="15" name="Image 1" descr="slides_img/eda_peine.png"/>
          <p:cNvPicPr>
            <a:picLocks noChangeAspect="1"/>
          </p:cNvPicPr>
          <p:nvPr/>
        </p:nvPicPr>
        <p:blipFill>
          <a:blip r:embed="rId3"/>
          <a:stretch>
            <a:fillRect/>
          </a:stretch>
        </p:blipFill>
        <p:spPr>
          <a:xfrm>
            <a:off x="6711925" y="4892040"/>
            <a:ext cx="4406951" cy="1234440"/>
          </a:xfrm>
          <a:prstGeom prst="rect">
            <a:avLst/>
          </a:prstGeom>
          <a:effectLst>
            <a:outerShdw blurRad="76200" dist="25400" dir="5400000" algn="bl" rotWithShape="0">
              <a:srgbClr val="7A8A8A">
                <a:alpha val="35000"/>
              </a:srgbClr>
            </a:outerShdw>
          </a:effectLst>
        </p:spPr>
      </p:pic>
      <p:pic>
        <p:nvPicPr>
          <p:cNvPr id="17" name="Imagen 16">
            <a:extLst>
              <a:ext uri="{FF2B5EF4-FFF2-40B4-BE49-F238E27FC236}">
                <a16:creationId xmlns:a16="http://schemas.microsoft.com/office/drawing/2014/main" id="{1CF9106C-385A-7B97-36A8-69E7963F4D03}"/>
              </a:ext>
            </a:extLst>
          </p:cNvPr>
          <p:cNvPicPr>
            <a:picLocks noChangeAspect="1"/>
          </p:cNvPicPr>
          <p:nvPr/>
        </p:nvPicPr>
        <p:blipFill>
          <a:blip r:embed="rId4"/>
          <a:stretch>
            <a:fillRect/>
          </a:stretch>
        </p:blipFill>
        <p:spPr>
          <a:xfrm>
            <a:off x="409795" y="1432512"/>
            <a:ext cx="5372004" cy="495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EC9A6CE-D53D-CDFC-1911-9B1A9445303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1B7101-FA20-0202-6590-2E202071E01C}"/>
              </a:ext>
            </a:extLst>
          </p:cNvPr>
          <p:cNvSpPr/>
          <p:nvPr/>
        </p:nvSpPr>
        <p:spPr>
          <a:xfrm>
            <a:off x="502920" y="475488"/>
            <a:ext cx="475488" cy="475488"/>
          </a:xfrm>
          <a:prstGeom prst="ellipse">
            <a:avLst/>
          </a:prstGeom>
          <a:solidFill>
            <a:srgbClr val="2E8C86"/>
          </a:solidFill>
          <a:ln/>
        </p:spPr>
        <p:txBody>
          <a:bodyPr/>
          <a:lstStyle/>
          <a:p>
            <a:endParaRPr lang="es-CO"/>
          </a:p>
        </p:txBody>
      </p:sp>
      <p:sp>
        <p:nvSpPr>
          <p:cNvPr id="3" name="Text 1">
            <a:extLst>
              <a:ext uri="{FF2B5EF4-FFF2-40B4-BE49-F238E27FC236}">
                <a16:creationId xmlns:a16="http://schemas.microsoft.com/office/drawing/2014/main" id="{F1DCEE27-C813-2D81-8F72-926C69574F56}"/>
              </a:ext>
            </a:extLst>
          </p:cNvPr>
          <p:cNvSpPr/>
          <p:nvPr/>
        </p:nvSpPr>
        <p:spPr>
          <a:xfrm>
            <a:off x="502920" y="47548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a:extLst>
              <a:ext uri="{FF2B5EF4-FFF2-40B4-BE49-F238E27FC236}">
                <a16:creationId xmlns:a16="http://schemas.microsoft.com/office/drawing/2014/main" id="{4427419A-CE72-A8FD-B2A8-0F3D11F0327B}"/>
              </a:ext>
            </a:extLst>
          </p:cNvPr>
          <p:cNvSpPr/>
          <p:nvPr/>
        </p:nvSpPr>
        <p:spPr>
          <a:xfrm>
            <a:off x="1143000" y="411480"/>
            <a:ext cx="10424160" cy="621792"/>
          </a:xfrm>
          <a:prstGeom prst="rect">
            <a:avLst/>
          </a:prstGeom>
          <a:noFill/>
          <a:ln/>
        </p:spPr>
        <p:txBody>
          <a:bodyPr wrap="square" lIns="0" tIns="0" rIns="0" bIns="0" rtlCol="0" anchor="ctr"/>
          <a:lstStyle/>
          <a:p>
            <a:pPr marL="0" indent="0" algn="l">
              <a:buNone/>
            </a:pPr>
            <a:r>
              <a:rPr lang="en-US" sz="2800" b="1" dirty="0" err="1">
                <a:solidFill>
                  <a:srgbClr val="1B2A30"/>
                </a:solidFill>
                <a:latin typeface="Cambria" pitchFamily="34" charset="0"/>
                <a:ea typeface="Cambria" pitchFamily="34" charset="-122"/>
                <a:cs typeface="Cambria" pitchFamily="34" charset="-120"/>
              </a:rPr>
              <a:t>Tratamiento</a:t>
            </a:r>
            <a:r>
              <a:rPr lang="en-US" sz="2800" b="1" dirty="0">
                <a:solidFill>
                  <a:srgbClr val="1B2A30"/>
                </a:solidFill>
                <a:latin typeface="Cambria" pitchFamily="34" charset="0"/>
                <a:ea typeface="Cambria" pitchFamily="34" charset="-122"/>
                <a:cs typeface="Cambria" pitchFamily="34" charset="-120"/>
              </a:rPr>
              <a:t> de </a:t>
            </a:r>
            <a:r>
              <a:rPr lang="en-US" sz="2800" b="1" dirty="0" err="1">
                <a:solidFill>
                  <a:srgbClr val="1B2A30"/>
                </a:solidFill>
                <a:latin typeface="Cambria" pitchFamily="34" charset="0"/>
                <a:ea typeface="Cambria" pitchFamily="34" charset="-122"/>
                <a:cs typeface="Cambria" pitchFamily="34" charset="-120"/>
              </a:rPr>
              <a:t>valores</a:t>
            </a:r>
            <a:r>
              <a:rPr lang="en-US" sz="2800" b="1" dirty="0">
                <a:solidFill>
                  <a:srgbClr val="1B2A30"/>
                </a:solidFill>
                <a:latin typeface="Cambria" pitchFamily="34" charset="0"/>
                <a:ea typeface="Cambria" pitchFamily="34" charset="-122"/>
                <a:cs typeface="Cambria" pitchFamily="34" charset="-120"/>
              </a:rPr>
              <a:t> </a:t>
            </a:r>
            <a:r>
              <a:rPr lang="en-US" sz="2800" b="1" dirty="0" err="1">
                <a:solidFill>
                  <a:srgbClr val="1B2A30"/>
                </a:solidFill>
                <a:latin typeface="Cambria" pitchFamily="34" charset="0"/>
                <a:ea typeface="Cambria" pitchFamily="34" charset="-122"/>
                <a:cs typeface="Cambria" pitchFamily="34" charset="-120"/>
              </a:rPr>
              <a:t>atípicos</a:t>
            </a:r>
            <a:endParaRPr lang="en-US" sz="2800" dirty="0"/>
          </a:p>
        </p:txBody>
      </p:sp>
      <p:sp>
        <p:nvSpPr>
          <p:cNvPr id="12" name="Shape 9">
            <a:extLst>
              <a:ext uri="{FF2B5EF4-FFF2-40B4-BE49-F238E27FC236}">
                <a16:creationId xmlns:a16="http://schemas.microsoft.com/office/drawing/2014/main" id="{FA84DEE5-9B73-9909-F38D-4622CF43CAA0}"/>
              </a:ext>
            </a:extLst>
          </p:cNvPr>
          <p:cNvSpPr/>
          <p:nvPr/>
        </p:nvSpPr>
        <p:spPr>
          <a:xfrm>
            <a:off x="1617618" y="1213683"/>
            <a:ext cx="5212080" cy="1776549"/>
          </a:xfrm>
          <a:prstGeom prst="roundRect">
            <a:avLst>
              <a:gd name="adj" fmla="val 2353"/>
            </a:avLst>
          </a:prstGeom>
          <a:solidFill>
            <a:srgbClr val="EEF3F3"/>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13" name="Text 10">
            <a:extLst>
              <a:ext uri="{FF2B5EF4-FFF2-40B4-BE49-F238E27FC236}">
                <a16:creationId xmlns:a16="http://schemas.microsoft.com/office/drawing/2014/main" id="{CA51D98A-1921-6E8F-D23E-65617DB4E472}"/>
              </a:ext>
            </a:extLst>
          </p:cNvPr>
          <p:cNvSpPr/>
          <p:nvPr/>
        </p:nvSpPr>
        <p:spPr>
          <a:xfrm>
            <a:off x="6537960" y="3291840"/>
            <a:ext cx="4754880" cy="457200"/>
          </a:xfrm>
          <a:prstGeom prst="rect">
            <a:avLst/>
          </a:prstGeom>
          <a:noFill/>
          <a:ln/>
        </p:spPr>
        <p:txBody>
          <a:bodyPr wrap="square" lIns="0" tIns="0" rIns="0" bIns="0" rtlCol="0" anchor="ctr"/>
          <a:lstStyle/>
          <a:p>
            <a:pPr marL="0" indent="0">
              <a:buNone/>
            </a:pPr>
            <a:r>
              <a:rPr lang="en-US" sz="1600" b="1" dirty="0" err="1">
                <a:solidFill>
                  <a:srgbClr val="1F6E68"/>
                </a:solidFill>
                <a:latin typeface="Cambria" pitchFamily="34" charset="0"/>
                <a:ea typeface="Cambria" pitchFamily="34" charset="-122"/>
                <a:cs typeface="Cambria" pitchFamily="34" charset="-120"/>
              </a:rPr>
              <a:t>Método</a:t>
            </a:r>
            <a:r>
              <a:rPr lang="en-US" sz="1600" b="1" dirty="0">
                <a:solidFill>
                  <a:srgbClr val="1F6E68"/>
                </a:solidFill>
                <a:latin typeface="Cambria" pitchFamily="34" charset="0"/>
                <a:ea typeface="Cambria" pitchFamily="34" charset="-122"/>
                <a:cs typeface="Cambria" pitchFamily="34" charset="-120"/>
              </a:rPr>
              <a:t> semicuantitativo</a:t>
            </a:r>
            <a:endParaRPr lang="en-US" sz="1600" dirty="0"/>
          </a:p>
        </p:txBody>
      </p:sp>
      <p:sp>
        <p:nvSpPr>
          <p:cNvPr id="14" name="Text 11">
            <a:extLst>
              <a:ext uri="{FF2B5EF4-FFF2-40B4-BE49-F238E27FC236}">
                <a16:creationId xmlns:a16="http://schemas.microsoft.com/office/drawing/2014/main" id="{A6435F43-CCF8-28CC-E3D5-96C650BEDFCB}"/>
              </a:ext>
            </a:extLst>
          </p:cNvPr>
          <p:cNvSpPr/>
          <p:nvPr/>
        </p:nvSpPr>
        <p:spPr>
          <a:xfrm>
            <a:off x="1742803" y="1454115"/>
            <a:ext cx="4800600" cy="1188720"/>
          </a:xfrm>
          <a:prstGeom prst="rect">
            <a:avLst/>
          </a:prstGeom>
          <a:noFill/>
          <a:ln/>
        </p:spPr>
        <p:txBody>
          <a:bodyPr wrap="square" lIns="0" tIns="0" rIns="0" bIns="0" rtlCol="0" anchor="t"/>
          <a:lstStyle/>
          <a:p>
            <a:pPr marL="0" indent="0">
              <a:lnSpc>
                <a:spcPts val="1600"/>
              </a:lnSpc>
              <a:buNone/>
            </a:pPr>
            <a:r>
              <a:rPr lang="es-CO" sz="1250" dirty="0">
                <a:solidFill>
                  <a:srgbClr val="5F6E73"/>
                </a:solidFill>
                <a:latin typeface="Calibri" pitchFamily="34" charset="0"/>
                <a:ea typeface="Calibri" pitchFamily="34" charset="-122"/>
                <a:cs typeface="Calibri" pitchFamily="34" charset="-120"/>
              </a:rPr>
              <a:t>Las distribuciones geoquímicas presentan típicamente colas superiores pesadas. Para evitar que unos pocos valores extremos dominen la estimación se aplica un </a:t>
            </a:r>
            <a:r>
              <a:rPr lang="es-CO" sz="1250" b="1" dirty="0">
                <a:solidFill>
                  <a:srgbClr val="5F6E73"/>
                </a:solidFill>
                <a:latin typeface="Calibri" pitchFamily="34" charset="0"/>
                <a:ea typeface="Calibri" pitchFamily="34" charset="-122"/>
                <a:cs typeface="Calibri" pitchFamily="34" charset="-120"/>
              </a:rPr>
              <a:t>top-</a:t>
            </a:r>
            <a:r>
              <a:rPr lang="es-CO" sz="1250" b="1" dirty="0" err="1">
                <a:solidFill>
                  <a:srgbClr val="5F6E73"/>
                </a:solidFill>
                <a:latin typeface="Calibri" pitchFamily="34" charset="0"/>
                <a:ea typeface="Calibri" pitchFamily="34" charset="-122"/>
                <a:cs typeface="Calibri" pitchFamily="34" charset="-120"/>
              </a:rPr>
              <a:t>cut</a:t>
            </a:r>
            <a:r>
              <a:rPr lang="es-CO" sz="1250" b="1" dirty="0">
                <a:solidFill>
                  <a:srgbClr val="5F6E73"/>
                </a:solidFill>
                <a:latin typeface="Calibri" pitchFamily="34" charset="0"/>
                <a:ea typeface="Calibri" pitchFamily="34" charset="-122"/>
                <a:cs typeface="Calibri" pitchFamily="34" charset="-120"/>
              </a:rPr>
              <a:t> (recorte superior). </a:t>
            </a:r>
            <a:r>
              <a:rPr lang="es-CO" sz="1250" dirty="0">
                <a:solidFill>
                  <a:srgbClr val="5F6E73"/>
                </a:solidFill>
                <a:latin typeface="Calibri" pitchFamily="34" charset="0"/>
                <a:ea typeface="Calibri" pitchFamily="34" charset="-122"/>
                <a:cs typeface="Calibri" pitchFamily="34" charset="-120"/>
              </a:rPr>
              <a:t>El umbral se sustenta en un gráfico de probabilidad (</a:t>
            </a:r>
            <a:r>
              <a:rPr lang="es-CO" sz="1250" dirty="0" err="1">
                <a:solidFill>
                  <a:srgbClr val="5F6E73"/>
                </a:solidFill>
                <a:latin typeface="Calibri" pitchFamily="34" charset="0"/>
                <a:ea typeface="Calibri" pitchFamily="34" charset="-122"/>
                <a:cs typeface="Calibri" pitchFamily="34" charset="-120"/>
              </a:rPr>
              <a:t>probability</a:t>
            </a:r>
            <a:r>
              <a:rPr lang="es-CO" sz="1250" dirty="0">
                <a:solidFill>
                  <a:srgbClr val="5F6E73"/>
                </a:solidFill>
                <a:latin typeface="Calibri" pitchFamily="34" charset="0"/>
                <a:ea typeface="Calibri" pitchFamily="34" charset="-122"/>
                <a:cs typeface="Calibri" pitchFamily="34" charset="-120"/>
              </a:rPr>
              <a:t> </a:t>
            </a:r>
            <a:r>
              <a:rPr lang="es-CO" sz="1250" dirty="0" err="1">
                <a:solidFill>
                  <a:srgbClr val="5F6E73"/>
                </a:solidFill>
                <a:latin typeface="Calibri" pitchFamily="34" charset="0"/>
                <a:ea typeface="Calibri" pitchFamily="34" charset="-122"/>
                <a:cs typeface="Calibri" pitchFamily="34" charset="-120"/>
              </a:rPr>
              <a:t>plot</a:t>
            </a:r>
            <a:r>
              <a:rPr lang="es-CO" sz="1250" dirty="0">
                <a:solidFill>
                  <a:srgbClr val="5F6E73"/>
                </a:solidFill>
                <a:latin typeface="Calibri" pitchFamily="34" charset="0"/>
                <a:ea typeface="Calibri" pitchFamily="34" charset="-122"/>
                <a:cs typeface="Calibri" pitchFamily="34" charset="-120"/>
              </a:rPr>
              <a:t>): un quiebre en la pendiente sugiere el paso de la población de fondo a una población anómala de valores altos. Se adopta un umbral de </a:t>
            </a:r>
            <a:r>
              <a:rPr lang="es-CO" sz="1250" b="1" dirty="0">
                <a:solidFill>
                  <a:srgbClr val="5F6E73"/>
                </a:solidFill>
                <a:latin typeface="Calibri" pitchFamily="34" charset="0"/>
                <a:ea typeface="Calibri" pitchFamily="34" charset="-122"/>
                <a:cs typeface="Calibri" pitchFamily="34" charset="-120"/>
              </a:rPr>
              <a:t>150 ppm</a:t>
            </a:r>
            <a:endParaRPr lang="en-US" sz="1250" b="1" dirty="0"/>
          </a:p>
        </p:txBody>
      </p:sp>
      <p:pic>
        <p:nvPicPr>
          <p:cNvPr id="5" name="Imagen 4">
            <a:extLst>
              <a:ext uri="{FF2B5EF4-FFF2-40B4-BE49-F238E27FC236}">
                <a16:creationId xmlns:a16="http://schemas.microsoft.com/office/drawing/2014/main" id="{7D5D8215-5A52-6855-E4ED-05E931036A4E}"/>
              </a:ext>
            </a:extLst>
          </p:cNvPr>
          <p:cNvPicPr>
            <a:picLocks noChangeAspect="1"/>
          </p:cNvPicPr>
          <p:nvPr/>
        </p:nvPicPr>
        <p:blipFill>
          <a:blip r:embed="rId3"/>
          <a:stretch>
            <a:fillRect/>
          </a:stretch>
        </p:blipFill>
        <p:spPr>
          <a:xfrm>
            <a:off x="799013" y="3330742"/>
            <a:ext cx="9144000" cy="3115778"/>
          </a:xfrm>
          <a:prstGeom prst="rect">
            <a:avLst/>
          </a:prstGeom>
        </p:spPr>
      </p:pic>
    </p:spTree>
    <p:extLst>
      <p:ext uri="{BB962C8B-B14F-4D97-AF65-F5344CB8AC3E}">
        <p14:creationId xmlns:p14="http://schemas.microsoft.com/office/powerpoint/2010/main" val="2705228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75488"/>
            <a:ext cx="475488" cy="475488"/>
          </a:xfrm>
          <a:prstGeom prst="ellipse">
            <a:avLst/>
          </a:prstGeom>
          <a:solidFill>
            <a:srgbClr val="2E8C86"/>
          </a:solidFill>
          <a:ln/>
        </p:spPr>
        <p:txBody>
          <a:bodyPr/>
          <a:lstStyle/>
          <a:p>
            <a:endParaRPr lang="es-CO"/>
          </a:p>
        </p:txBody>
      </p:sp>
      <p:sp>
        <p:nvSpPr>
          <p:cNvPr id="3" name="Text 1"/>
          <p:cNvSpPr/>
          <p:nvPr/>
        </p:nvSpPr>
        <p:spPr>
          <a:xfrm>
            <a:off x="502920" y="47548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143000" y="411480"/>
            <a:ext cx="10424160" cy="621792"/>
          </a:xfrm>
          <a:prstGeom prst="rect">
            <a:avLst/>
          </a:prstGeom>
          <a:noFill/>
          <a:ln/>
        </p:spPr>
        <p:txBody>
          <a:bodyPr wrap="square" lIns="0" tIns="0" rIns="0" bIns="0" rtlCol="0" anchor="ctr"/>
          <a:lstStyle/>
          <a:p>
            <a:pPr marL="0" indent="0" algn="l">
              <a:buNone/>
            </a:pPr>
            <a:r>
              <a:rPr lang="en-US" sz="2800" b="1" dirty="0">
                <a:solidFill>
                  <a:srgbClr val="1B2A30"/>
                </a:solidFill>
                <a:latin typeface="Cambria" pitchFamily="34" charset="0"/>
                <a:ea typeface="Cambria" pitchFamily="34" charset="-122"/>
                <a:cs typeface="Cambria" pitchFamily="34" charset="-120"/>
              </a:rPr>
              <a:t>Metodología: cinco interpoladores, una validación</a:t>
            </a:r>
            <a:endParaRPr lang="en-US" sz="2800" dirty="0"/>
          </a:p>
        </p:txBody>
      </p:sp>
      <p:sp>
        <p:nvSpPr>
          <p:cNvPr id="5" name="Shape 3"/>
          <p:cNvSpPr/>
          <p:nvPr/>
        </p:nvSpPr>
        <p:spPr>
          <a:xfrm>
            <a:off x="548640" y="1417320"/>
            <a:ext cx="2084832" cy="1051560"/>
          </a:xfrm>
          <a:prstGeom prst="roundRect">
            <a:avLst>
              <a:gd name="adj" fmla="val 6957"/>
            </a:avLst>
          </a:prstGeom>
          <a:solidFill>
            <a:srgbClr val="EEF3F3"/>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6" name="Text 4"/>
          <p:cNvSpPr/>
          <p:nvPr/>
        </p:nvSpPr>
        <p:spPr>
          <a:xfrm>
            <a:off x="594360" y="1417320"/>
            <a:ext cx="1993392" cy="1051560"/>
          </a:xfrm>
          <a:prstGeom prst="rect">
            <a:avLst/>
          </a:prstGeom>
          <a:noFill/>
          <a:ln/>
        </p:spPr>
        <p:txBody>
          <a:bodyPr wrap="square" lIns="0" tIns="0" rIns="0" bIns="0" rtlCol="0" anchor="ctr"/>
          <a:lstStyle/>
          <a:p>
            <a:pPr marL="0" indent="0" algn="ctr">
              <a:lnSpc>
                <a:spcPts val="1500"/>
              </a:lnSpc>
              <a:buNone/>
            </a:pPr>
            <a:r>
              <a:rPr lang="en-US" sz="1250" b="1" dirty="0">
                <a:solidFill>
                  <a:srgbClr val="1B2A30"/>
                </a:solidFill>
                <a:latin typeface="Calibri" pitchFamily="34" charset="0"/>
                <a:ea typeface="Calibri" pitchFamily="34" charset="-122"/>
                <a:cs typeface="Calibri" pitchFamily="34" charset="-120"/>
              </a:rPr>
              <a:t>Preparación</a:t>
            </a:r>
            <a:endParaRPr lang="en-US" sz="1250" dirty="0"/>
          </a:p>
          <a:p>
            <a:pPr marL="0" indent="0" algn="ctr">
              <a:lnSpc>
                <a:spcPts val="1500"/>
              </a:lnSpc>
              <a:buNone/>
            </a:pPr>
            <a:r>
              <a:rPr lang="en-US" sz="1250" b="1" dirty="0">
                <a:solidFill>
                  <a:srgbClr val="1B2A30"/>
                </a:solidFill>
                <a:latin typeface="Calibri" pitchFamily="34" charset="0"/>
                <a:ea typeface="Calibri" pitchFamily="34" charset="-122"/>
                <a:cs typeface="Calibri" pitchFamily="34" charset="-120"/>
              </a:rPr>
              <a:t>(capping, log₁₀)</a:t>
            </a:r>
            <a:endParaRPr lang="en-US" sz="1250" dirty="0"/>
          </a:p>
        </p:txBody>
      </p:sp>
      <p:sp>
        <p:nvSpPr>
          <p:cNvPr id="7" name="Text 5"/>
          <p:cNvSpPr/>
          <p:nvPr/>
        </p:nvSpPr>
        <p:spPr>
          <a:xfrm>
            <a:off x="2615184" y="1417320"/>
            <a:ext cx="219456" cy="1051560"/>
          </a:xfrm>
          <a:prstGeom prst="rect">
            <a:avLst/>
          </a:prstGeom>
          <a:noFill/>
          <a:ln/>
        </p:spPr>
        <p:txBody>
          <a:bodyPr wrap="square" lIns="0" tIns="0" rIns="0" bIns="0" rtlCol="0" anchor="ctr"/>
          <a:lstStyle/>
          <a:p>
            <a:pPr marL="0" indent="0" algn="ctr">
              <a:buNone/>
            </a:pPr>
            <a:r>
              <a:rPr lang="en-US" sz="2200" b="1" dirty="0">
                <a:solidFill>
                  <a:srgbClr val="2E8C86"/>
                </a:solidFill>
                <a:latin typeface="Cambria" pitchFamily="34" charset="0"/>
                <a:ea typeface="Cambria" pitchFamily="34" charset="-122"/>
                <a:cs typeface="Cambria" pitchFamily="34" charset="-120"/>
              </a:rPr>
              <a:t>›</a:t>
            </a:r>
            <a:endParaRPr lang="en-US" sz="2200" dirty="0"/>
          </a:p>
        </p:txBody>
      </p:sp>
      <p:sp>
        <p:nvSpPr>
          <p:cNvPr id="8" name="Shape 6"/>
          <p:cNvSpPr/>
          <p:nvPr/>
        </p:nvSpPr>
        <p:spPr>
          <a:xfrm>
            <a:off x="2761488" y="1417320"/>
            <a:ext cx="2084832" cy="1051560"/>
          </a:xfrm>
          <a:prstGeom prst="roundRect">
            <a:avLst>
              <a:gd name="adj" fmla="val 6957"/>
            </a:avLst>
          </a:prstGeom>
          <a:solidFill>
            <a:srgbClr val="EEF3F3"/>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9" name="Text 7"/>
          <p:cNvSpPr/>
          <p:nvPr/>
        </p:nvSpPr>
        <p:spPr>
          <a:xfrm>
            <a:off x="2807208" y="1417320"/>
            <a:ext cx="1993392" cy="1051560"/>
          </a:xfrm>
          <a:prstGeom prst="rect">
            <a:avLst/>
          </a:prstGeom>
          <a:noFill/>
          <a:ln/>
        </p:spPr>
        <p:txBody>
          <a:bodyPr wrap="square" lIns="0" tIns="0" rIns="0" bIns="0" rtlCol="0" anchor="ctr"/>
          <a:lstStyle/>
          <a:p>
            <a:pPr marL="0" indent="0" algn="ctr">
              <a:lnSpc>
                <a:spcPts val="1500"/>
              </a:lnSpc>
              <a:buNone/>
            </a:pPr>
            <a:r>
              <a:rPr lang="en-US" sz="1250" b="1" dirty="0">
                <a:solidFill>
                  <a:srgbClr val="1B2A30"/>
                </a:solidFill>
                <a:latin typeface="Calibri" pitchFamily="34" charset="0"/>
                <a:ea typeface="Calibri" pitchFamily="34" charset="-122"/>
                <a:cs typeface="Calibri" pitchFamily="34" charset="-120"/>
              </a:rPr>
              <a:t>Análisis</a:t>
            </a:r>
            <a:endParaRPr lang="en-US" sz="1250" dirty="0"/>
          </a:p>
          <a:p>
            <a:pPr marL="0" indent="0" algn="ctr">
              <a:lnSpc>
                <a:spcPts val="1500"/>
              </a:lnSpc>
              <a:buNone/>
            </a:pPr>
            <a:r>
              <a:rPr lang="en-US" sz="1250" b="1" dirty="0">
                <a:solidFill>
                  <a:srgbClr val="1B2A30"/>
                </a:solidFill>
                <a:latin typeface="Calibri" pitchFamily="34" charset="0"/>
                <a:ea typeface="Calibri" pitchFamily="34" charset="-122"/>
                <a:cs typeface="Calibri" pitchFamily="34" charset="-120"/>
              </a:rPr>
              <a:t>exploratorio</a:t>
            </a:r>
            <a:endParaRPr lang="en-US" sz="1250" dirty="0"/>
          </a:p>
        </p:txBody>
      </p:sp>
      <p:sp>
        <p:nvSpPr>
          <p:cNvPr id="10" name="Text 8"/>
          <p:cNvSpPr/>
          <p:nvPr/>
        </p:nvSpPr>
        <p:spPr>
          <a:xfrm>
            <a:off x="4828032" y="1417320"/>
            <a:ext cx="219456" cy="1051560"/>
          </a:xfrm>
          <a:prstGeom prst="rect">
            <a:avLst/>
          </a:prstGeom>
          <a:noFill/>
          <a:ln/>
        </p:spPr>
        <p:txBody>
          <a:bodyPr wrap="square" lIns="0" tIns="0" rIns="0" bIns="0" rtlCol="0" anchor="ctr"/>
          <a:lstStyle/>
          <a:p>
            <a:pPr marL="0" indent="0" algn="ctr">
              <a:buNone/>
            </a:pPr>
            <a:r>
              <a:rPr lang="en-US" sz="2200" b="1" dirty="0">
                <a:solidFill>
                  <a:srgbClr val="2E8C86"/>
                </a:solidFill>
                <a:latin typeface="Cambria" pitchFamily="34" charset="0"/>
                <a:ea typeface="Cambria" pitchFamily="34" charset="-122"/>
                <a:cs typeface="Cambria" pitchFamily="34" charset="-120"/>
              </a:rPr>
              <a:t>›</a:t>
            </a:r>
            <a:endParaRPr lang="en-US" sz="2200" dirty="0"/>
          </a:p>
        </p:txBody>
      </p:sp>
      <p:sp>
        <p:nvSpPr>
          <p:cNvPr id="11" name="Shape 9"/>
          <p:cNvSpPr/>
          <p:nvPr/>
        </p:nvSpPr>
        <p:spPr>
          <a:xfrm>
            <a:off x="4974336" y="1417320"/>
            <a:ext cx="2084832" cy="1051560"/>
          </a:xfrm>
          <a:prstGeom prst="roundRect">
            <a:avLst>
              <a:gd name="adj" fmla="val 6957"/>
            </a:avLst>
          </a:prstGeom>
          <a:solidFill>
            <a:srgbClr val="EEF3F3"/>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12" name="Text 10"/>
          <p:cNvSpPr/>
          <p:nvPr/>
        </p:nvSpPr>
        <p:spPr>
          <a:xfrm>
            <a:off x="5020056" y="1417320"/>
            <a:ext cx="1993392" cy="1051560"/>
          </a:xfrm>
          <a:prstGeom prst="rect">
            <a:avLst/>
          </a:prstGeom>
          <a:noFill/>
          <a:ln/>
        </p:spPr>
        <p:txBody>
          <a:bodyPr wrap="square" lIns="0" tIns="0" rIns="0" bIns="0" rtlCol="0" anchor="ctr"/>
          <a:lstStyle/>
          <a:p>
            <a:pPr marL="0" indent="0" algn="ctr">
              <a:lnSpc>
                <a:spcPts val="1500"/>
              </a:lnSpc>
              <a:buNone/>
            </a:pPr>
            <a:r>
              <a:rPr lang="en-US" sz="1250" b="1" dirty="0">
                <a:solidFill>
                  <a:srgbClr val="1B2A30"/>
                </a:solidFill>
                <a:latin typeface="Calibri" pitchFamily="34" charset="0"/>
                <a:ea typeface="Calibri" pitchFamily="34" charset="-122"/>
                <a:cs typeface="Calibri" pitchFamily="34" charset="-120"/>
              </a:rPr>
              <a:t>Variografía</a:t>
            </a:r>
            <a:endParaRPr lang="en-US" sz="1250" dirty="0"/>
          </a:p>
          <a:p>
            <a:pPr marL="0" indent="0" algn="ctr">
              <a:lnSpc>
                <a:spcPts val="1500"/>
              </a:lnSpc>
              <a:buNone/>
            </a:pPr>
            <a:r>
              <a:rPr lang="en-US" sz="1250" b="1" dirty="0">
                <a:solidFill>
                  <a:srgbClr val="1B2A30"/>
                </a:solidFill>
                <a:latin typeface="Calibri" pitchFamily="34" charset="0"/>
                <a:ea typeface="Calibri" pitchFamily="34" charset="-122"/>
                <a:cs typeface="Calibri" pitchFamily="34" charset="-120"/>
              </a:rPr>
              <a:t>(estructura)</a:t>
            </a:r>
            <a:endParaRPr lang="en-US" sz="1250" dirty="0"/>
          </a:p>
        </p:txBody>
      </p:sp>
      <p:sp>
        <p:nvSpPr>
          <p:cNvPr id="13" name="Text 11"/>
          <p:cNvSpPr/>
          <p:nvPr/>
        </p:nvSpPr>
        <p:spPr>
          <a:xfrm>
            <a:off x="7040880" y="1417320"/>
            <a:ext cx="219456" cy="1051560"/>
          </a:xfrm>
          <a:prstGeom prst="rect">
            <a:avLst/>
          </a:prstGeom>
          <a:noFill/>
          <a:ln/>
        </p:spPr>
        <p:txBody>
          <a:bodyPr wrap="square" lIns="0" tIns="0" rIns="0" bIns="0" rtlCol="0" anchor="ctr"/>
          <a:lstStyle/>
          <a:p>
            <a:pPr marL="0" indent="0" algn="ctr">
              <a:buNone/>
            </a:pPr>
            <a:r>
              <a:rPr lang="en-US" sz="2200" b="1" dirty="0">
                <a:solidFill>
                  <a:srgbClr val="2E8C86"/>
                </a:solidFill>
                <a:latin typeface="Cambria" pitchFamily="34" charset="0"/>
                <a:ea typeface="Cambria" pitchFamily="34" charset="-122"/>
                <a:cs typeface="Cambria" pitchFamily="34" charset="-120"/>
              </a:rPr>
              <a:t>›</a:t>
            </a:r>
            <a:endParaRPr lang="en-US" sz="2200" dirty="0"/>
          </a:p>
        </p:txBody>
      </p:sp>
      <p:sp>
        <p:nvSpPr>
          <p:cNvPr id="14" name="Shape 12"/>
          <p:cNvSpPr/>
          <p:nvPr/>
        </p:nvSpPr>
        <p:spPr>
          <a:xfrm>
            <a:off x="7187184" y="1417320"/>
            <a:ext cx="2084832" cy="1051560"/>
          </a:xfrm>
          <a:prstGeom prst="roundRect">
            <a:avLst>
              <a:gd name="adj" fmla="val 6957"/>
            </a:avLst>
          </a:prstGeom>
          <a:solidFill>
            <a:srgbClr val="EEF3F3"/>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15" name="Text 13"/>
          <p:cNvSpPr/>
          <p:nvPr/>
        </p:nvSpPr>
        <p:spPr>
          <a:xfrm>
            <a:off x="7232904" y="1417320"/>
            <a:ext cx="1993392" cy="1051560"/>
          </a:xfrm>
          <a:prstGeom prst="rect">
            <a:avLst/>
          </a:prstGeom>
          <a:noFill/>
          <a:ln/>
        </p:spPr>
        <p:txBody>
          <a:bodyPr wrap="square" lIns="0" tIns="0" rIns="0" bIns="0" rtlCol="0" anchor="ctr"/>
          <a:lstStyle/>
          <a:p>
            <a:pPr marL="0" indent="0" algn="ctr">
              <a:lnSpc>
                <a:spcPts val="1500"/>
              </a:lnSpc>
              <a:buNone/>
            </a:pPr>
            <a:r>
              <a:rPr lang="en-US" sz="1250" b="1" dirty="0">
                <a:solidFill>
                  <a:srgbClr val="1B2A30"/>
                </a:solidFill>
                <a:latin typeface="Calibri" pitchFamily="34" charset="0"/>
                <a:ea typeface="Calibri" pitchFamily="34" charset="-122"/>
                <a:cs typeface="Calibri" pitchFamily="34" charset="-120"/>
              </a:rPr>
              <a:t>Interpolación</a:t>
            </a:r>
            <a:endParaRPr lang="en-US" sz="1250" dirty="0"/>
          </a:p>
          <a:p>
            <a:pPr marL="0" indent="0" algn="ctr">
              <a:lnSpc>
                <a:spcPts val="1500"/>
              </a:lnSpc>
              <a:buNone/>
            </a:pPr>
            <a:r>
              <a:rPr lang="en-US" sz="1250" b="1" dirty="0">
                <a:solidFill>
                  <a:srgbClr val="1B2A30"/>
                </a:solidFill>
                <a:latin typeface="Calibri" pitchFamily="34" charset="0"/>
                <a:ea typeface="Calibri" pitchFamily="34" charset="-122"/>
                <a:cs typeface="Calibri" pitchFamily="34" charset="-120"/>
              </a:rPr>
              <a:t>(5 métodos)</a:t>
            </a:r>
            <a:endParaRPr lang="en-US" sz="1250" dirty="0"/>
          </a:p>
        </p:txBody>
      </p:sp>
      <p:sp>
        <p:nvSpPr>
          <p:cNvPr id="16" name="Text 14"/>
          <p:cNvSpPr/>
          <p:nvPr/>
        </p:nvSpPr>
        <p:spPr>
          <a:xfrm>
            <a:off x="9253728" y="1417320"/>
            <a:ext cx="219456" cy="1051560"/>
          </a:xfrm>
          <a:prstGeom prst="rect">
            <a:avLst/>
          </a:prstGeom>
          <a:noFill/>
          <a:ln/>
        </p:spPr>
        <p:txBody>
          <a:bodyPr wrap="square" lIns="0" tIns="0" rIns="0" bIns="0" rtlCol="0" anchor="ctr"/>
          <a:lstStyle/>
          <a:p>
            <a:pPr marL="0" indent="0" algn="ctr">
              <a:buNone/>
            </a:pPr>
            <a:r>
              <a:rPr lang="en-US" sz="2200" b="1" dirty="0">
                <a:solidFill>
                  <a:srgbClr val="2E8C86"/>
                </a:solidFill>
                <a:latin typeface="Cambria" pitchFamily="34" charset="0"/>
                <a:ea typeface="Cambria" pitchFamily="34" charset="-122"/>
                <a:cs typeface="Cambria" pitchFamily="34" charset="-120"/>
              </a:rPr>
              <a:t>›</a:t>
            </a:r>
            <a:endParaRPr lang="en-US" sz="2200" dirty="0"/>
          </a:p>
        </p:txBody>
      </p:sp>
      <p:sp>
        <p:nvSpPr>
          <p:cNvPr id="17" name="Shape 15"/>
          <p:cNvSpPr/>
          <p:nvPr/>
        </p:nvSpPr>
        <p:spPr>
          <a:xfrm>
            <a:off x="9400032" y="1417320"/>
            <a:ext cx="2084832" cy="1051560"/>
          </a:xfrm>
          <a:prstGeom prst="roundRect">
            <a:avLst>
              <a:gd name="adj" fmla="val 6957"/>
            </a:avLst>
          </a:prstGeom>
          <a:solidFill>
            <a:srgbClr val="2E8C86"/>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18" name="Text 16"/>
          <p:cNvSpPr/>
          <p:nvPr/>
        </p:nvSpPr>
        <p:spPr>
          <a:xfrm>
            <a:off x="9445752" y="1417320"/>
            <a:ext cx="1993392" cy="1051560"/>
          </a:xfrm>
          <a:prstGeom prst="rect">
            <a:avLst/>
          </a:prstGeom>
          <a:noFill/>
          <a:ln/>
        </p:spPr>
        <p:txBody>
          <a:bodyPr wrap="square" lIns="0" tIns="0" rIns="0" bIns="0" rtlCol="0" anchor="ctr"/>
          <a:lstStyle/>
          <a:p>
            <a:pPr marL="0" indent="0" algn="ctr">
              <a:lnSpc>
                <a:spcPts val="1500"/>
              </a:lnSpc>
              <a:buNone/>
            </a:pPr>
            <a:r>
              <a:rPr lang="en-US" sz="1250" b="1" dirty="0">
                <a:solidFill>
                  <a:srgbClr val="FFFFFF"/>
                </a:solidFill>
                <a:latin typeface="Calibri" pitchFamily="34" charset="0"/>
                <a:ea typeface="Calibri" pitchFamily="34" charset="-122"/>
                <a:cs typeface="Calibri" pitchFamily="34" charset="-120"/>
              </a:rPr>
              <a:t>Validación</a:t>
            </a:r>
            <a:endParaRPr lang="en-US" sz="1250" dirty="0"/>
          </a:p>
          <a:p>
            <a:pPr marL="0" indent="0" algn="ctr">
              <a:lnSpc>
                <a:spcPts val="1500"/>
              </a:lnSpc>
              <a:buNone/>
            </a:pPr>
            <a:r>
              <a:rPr lang="en-US" sz="1250" b="1" dirty="0">
                <a:solidFill>
                  <a:srgbClr val="FFFFFF"/>
                </a:solidFill>
                <a:latin typeface="Calibri" pitchFamily="34" charset="0"/>
                <a:ea typeface="Calibri" pitchFamily="34" charset="-122"/>
                <a:cs typeface="Calibri" pitchFamily="34" charset="-120"/>
              </a:rPr>
              <a:t>cruzada</a:t>
            </a:r>
            <a:endParaRPr lang="en-US" sz="1250" dirty="0"/>
          </a:p>
        </p:txBody>
      </p:sp>
      <p:sp>
        <p:nvSpPr>
          <p:cNvPr id="19" name="Text 17"/>
          <p:cNvSpPr/>
          <p:nvPr/>
        </p:nvSpPr>
        <p:spPr>
          <a:xfrm>
            <a:off x="548640" y="2788920"/>
            <a:ext cx="7315200" cy="365760"/>
          </a:xfrm>
          <a:prstGeom prst="rect">
            <a:avLst/>
          </a:prstGeom>
          <a:noFill/>
          <a:ln/>
        </p:spPr>
        <p:txBody>
          <a:bodyPr wrap="square" lIns="0" tIns="0" rIns="0" bIns="0" rtlCol="0" anchor="ctr"/>
          <a:lstStyle/>
          <a:p>
            <a:pPr marL="0" indent="0">
              <a:buNone/>
            </a:pPr>
            <a:r>
              <a:rPr lang="en-US" sz="1600" b="1" dirty="0">
                <a:solidFill>
                  <a:srgbClr val="1F6E68"/>
                </a:solidFill>
                <a:latin typeface="Cambria" pitchFamily="34" charset="0"/>
                <a:ea typeface="Cambria" pitchFamily="34" charset="-122"/>
                <a:cs typeface="Cambria" pitchFamily="34" charset="-120"/>
              </a:rPr>
              <a:t>Los cinco métodos comparados</a:t>
            </a:r>
            <a:endParaRPr lang="en-US" sz="1600" dirty="0"/>
          </a:p>
        </p:txBody>
      </p:sp>
      <p:sp>
        <p:nvSpPr>
          <p:cNvPr id="20" name="Shape 18"/>
          <p:cNvSpPr/>
          <p:nvPr/>
        </p:nvSpPr>
        <p:spPr>
          <a:xfrm>
            <a:off x="548640" y="3246120"/>
            <a:ext cx="2084832" cy="1371600"/>
          </a:xfrm>
          <a:prstGeom prst="roundRect">
            <a:avLst>
              <a:gd name="adj" fmla="val 5333"/>
            </a:avLst>
          </a:prstGeom>
          <a:solidFill>
            <a:srgbClr val="FFFFFF"/>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21" name="Shape 19"/>
          <p:cNvSpPr/>
          <p:nvPr/>
        </p:nvSpPr>
        <p:spPr>
          <a:xfrm>
            <a:off x="1371600" y="3401568"/>
            <a:ext cx="457200" cy="457200"/>
          </a:xfrm>
          <a:prstGeom prst="ellipse">
            <a:avLst/>
          </a:prstGeom>
          <a:solidFill>
            <a:srgbClr val="5F6E73"/>
          </a:solidFill>
          <a:ln/>
        </p:spPr>
        <p:txBody>
          <a:bodyPr/>
          <a:lstStyle/>
          <a:p>
            <a:endParaRPr lang="es-CO"/>
          </a:p>
        </p:txBody>
      </p:sp>
      <p:sp>
        <p:nvSpPr>
          <p:cNvPr id="22" name="Text 20"/>
          <p:cNvSpPr/>
          <p:nvPr/>
        </p:nvSpPr>
        <p:spPr>
          <a:xfrm>
            <a:off x="621792" y="3913632"/>
            <a:ext cx="1938528" cy="457200"/>
          </a:xfrm>
          <a:prstGeom prst="rect">
            <a:avLst/>
          </a:prstGeom>
          <a:noFill/>
          <a:ln/>
        </p:spPr>
        <p:txBody>
          <a:bodyPr wrap="square" lIns="0" tIns="0" rIns="0" bIns="0" rtlCol="0" anchor="ctr"/>
          <a:lstStyle/>
          <a:p>
            <a:pPr marL="0" indent="0" algn="ctr">
              <a:lnSpc>
                <a:spcPts val="1400"/>
              </a:lnSpc>
              <a:buNone/>
            </a:pPr>
            <a:r>
              <a:rPr lang="en-US" sz="1250" b="1" dirty="0">
                <a:solidFill>
                  <a:srgbClr val="1B2A30"/>
                </a:solidFill>
                <a:latin typeface="Calibri" pitchFamily="34" charset="0"/>
                <a:ea typeface="Calibri" pitchFamily="34" charset="-122"/>
                <a:cs typeface="Calibri" pitchFamily="34" charset="-120"/>
              </a:rPr>
              <a:t>Vecino más cercano</a:t>
            </a:r>
            <a:endParaRPr lang="en-US" sz="1250" dirty="0"/>
          </a:p>
        </p:txBody>
      </p:sp>
      <p:sp>
        <p:nvSpPr>
          <p:cNvPr id="23" name="Text 21"/>
          <p:cNvSpPr/>
          <p:nvPr/>
        </p:nvSpPr>
        <p:spPr>
          <a:xfrm>
            <a:off x="621792" y="4315968"/>
            <a:ext cx="1938528" cy="274320"/>
          </a:xfrm>
          <a:prstGeom prst="rect">
            <a:avLst/>
          </a:prstGeom>
          <a:noFill/>
          <a:ln/>
        </p:spPr>
        <p:txBody>
          <a:bodyPr wrap="square" lIns="0" tIns="0" rIns="0" bIns="0" rtlCol="0" anchor="ctr"/>
          <a:lstStyle/>
          <a:p>
            <a:pPr marL="0" indent="0" algn="ctr">
              <a:buNone/>
            </a:pPr>
            <a:r>
              <a:rPr lang="en-US" sz="1000" dirty="0">
                <a:solidFill>
                  <a:srgbClr val="5F6E73"/>
                </a:solidFill>
                <a:latin typeface="Calibri" pitchFamily="34" charset="0"/>
                <a:ea typeface="Calibri" pitchFamily="34" charset="-122"/>
                <a:cs typeface="Calibri" pitchFamily="34" charset="-120"/>
              </a:rPr>
              <a:t>Determinista, referencia</a:t>
            </a:r>
            <a:endParaRPr lang="en-US" sz="1000" dirty="0"/>
          </a:p>
        </p:txBody>
      </p:sp>
      <p:sp>
        <p:nvSpPr>
          <p:cNvPr id="24" name="Shape 22"/>
          <p:cNvSpPr/>
          <p:nvPr/>
        </p:nvSpPr>
        <p:spPr>
          <a:xfrm>
            <a:off x="2761488" y="3246120"/>
            <a:ext cx="2084832" cy="1371600"/>
          </a:xfrm>
          <a:prstGeom prst="roundRect">
            <a:avLst>
              <a:gd name="adj" fmla="val 5333"/>
            </a:avLst>
          </a:prstGeom>
          <a:solidFill>
            <a:srgbClr val="FFFFFF"/>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25" name="Shape 23"/>
          <p:cNvSpPr/>
          <p:nvPr/>
        </p:nvSpPr>
        <p:spPr>
          <a:xfrm>
            <a:off x="3584448" y="3401568"/>
            <a:ext cx="457200" cy="457200"/>
          </a:xfrm>
          <a:prstGeom prst="ellipse">
            <a:avLst/>
          </a:prstGeom>
          <a:solidFill>
            <a:srgbClr val="5F6E73"/>
          </a:solidFill>
          <a:ln/>
        </p:spPr>
        <p:txBody>
          <a:bodyPr/>
          <a:lstStyle/>
          <a:p>
            <a:endParaRPr lang="es-CO"/>
          </a:p>
        </p:txBody>
      </p:sp>
      <p:sp>
        <p:nvSpPr>
          <p:cNvPr id="26" name="Text 24"/>
          <p:cNvSpPr/>
          <p:nvPr/>
        </p:nvSpPr>
        <p:spPr>
          <a:xfrm>
            <a:off x="2834640" y="3913632"/>
            <a:ext cx="1938528" cy="457200"/>
          </a:xfrm>
          <a:prstGeom prst="rect">
            <a:avLst/>
          </a:prstGeom>
          <a:noFill/>
          <a:ln/>
        </p:spPr>
        <p:txBody>
          <a:bodyPr wrap="square" lIns="0" tIns="0" rIns="0" bIns="0" rtlCol="0" anchor="ctr"/>
          <a:lstStyle/>
          <a:p>
            <a:pPr marL="0" indent="0" algn="ctr">
              <a:lnSpc>
                <a:spcPts val="1400"/>
              </a:lnSpc>
              <a:buNone/>
            </a:pPr>
            <a:r>
              <a:rPr lang="en-US" sz="1250" b="1" dirty="0">
                <a:solidFill>
                  <a:srgbClr val="1B2A30"/>
                </a:solidFill>
                <a:latin typeface="Calibri" pitchFamily="34" charset="0"/>
                <a:ea typeface="Calibri" pitchFamily="34" charset="-122"/>
                <a:cs typeface="Calibri" pitchFamily="34" charset="-120"/>
              </a:rPr>
              <a:t>IDW (p=2)</a:t>
            </a:r>
            <a:endParaRPr lang="en-US" sz="1250" dirty="0"/>
          </a:p>
        </p:txBody>
      </p:sp>
      <p:sp>
        <p:nvSpPr>
          <p:cNvPr id="27" name="Text 25"/>
          <p:cNvSpPr/>
          <p:nvPr/>
        </p:nvSpPr>
        <p:spPr>
          <a:xfrm>
            <a:off x="2834640" y="4315968"/>
            <a:ext cx="1938528" cy="274320"/>
          </a:xfrm>
          <a:prstGeom prst="rect">
            <a:avLst/>
          </a:prstGeom>
          <a:noFill/>
          <a:ln/>
        </p:spPr>
        <p:txBody>
          <a:bodyPr wrap="square" lIns="0" tIns="0" rIns="0" bIns="0" rtlCol="0" anchor="ctr"/>
          <a:lstStyle/>
          <a:p>
            <a:pPr marL="0" indent="0" algn="ctr">
              <a:buNone/>
            </a:pPr>
            <a:r>
              <a:rPr lang="en-US" sz="1000" dirty="0">
                <a:solidFill>
                  <a:srgbClr val="5F6E73"/>
                </a:solidFill>
                <a:latin typeface="Calibri" pitchFamily="34" charset="0"/>
                <a:ea typeface="Calibri" pitchFamily="34" charset="-122"/>
                <a:cs typeface="Calibri" pitchFamily="34" charset="-120"/>
              </a:rPr>
              <a:t>Distancia inversa ponderada</a:t>
            </a:r>
            <a:endParaRPr lang="en-US" sz="1000" dirty="0"/>
          </a:p>
        </p:txBody>
      </p:sp>
      <p:sp>
        <p:nvSpPr>
          <p:cNvPr id="28" name="Shape 26"/>
          <p:cNvSpPr/>
          <p:nvPr/>
        </p:nvSpPr>
        <p:spPr>
          <a:xfrm>
            <a:off x="4974336" y="3246120"/>
            <a:ext cx="2084832" cy="1371600"/>
          </a:xfrm>
          <a:prstGeom prst="roundRect">
            <a:avLst>
              <a:gd name="adj" fmla="val 5333"/>
            </a:avLst>
          </a:prstGeom>
          <a:solidFill>
            <a:srgbClr val="FFFFFF"/>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29" name="Shape 27"/>
          <p:cNvSpPr/>
          <p:nvPr/>
        </p:nvSpPr>
        <p:spPr>
          <a:xfrm>
            <a:off x="5797296" y="3401568"/>
            <a:ext cx="457200" cy="457200"/>
          </a:xfrm>
          <a:prstGeom prst="ellipse">
            <a:avLst/>
          </a:prstGeom>
          <a:solidFill>
            <a:srgbClr val="5F6E73"/>
          </a:solidFill>
          <a:ln/>
        </p:spPr>
        <p:txBody>
          <a:bodyPr/>
          <a:lstStyle/>
          <a:p>
            <a:endParaRPr lang="es-CO"/>
          </a:p>
        </p:txBody>
      </p:sp>
      <p:sp>
        <p:nvSpPr>
          <p:cNvPr id="30" name="Text 28"/>
          <p:cNvSpPr/>
          <p:nvPr/>
        </p:nvSpPr>
        <p:spPr>
          <a:xfrm>
            <a:off x="5047488" y="3913632"/>
            <a:ext cx="1938528" cy="457200"/>
          </a:xfrm>
          <a:prstGeom prst="rect">
            <a:avLst/>
          </a:prstGeom>
          <a:noFill/>
          <a:ln/>
        </p:spPr>
        <p:txBody>
          <a:bodyPr wrap="square" lIns="0" tIns="0" rIns="0" bIns="0" rtlCol="0" anchor="ctr"/>
          <a:lstStyle/>
          <a:p>
            <a:pPr marL="0" indent="0" algn="ctr">
              <a:lnSpc>
                <a:spcPts val="1400"/>
              </a:lnSpc>
              <a:buNone/>
            </a:pPr>
            <a:r>
              <a:rPr lang="en-US" sz="1250" b="1" dirty="0">
                <a:solidFill>
                  <a:srgbClr val="1B2A30"/>
                </a:solidFill>
                <a:latin typeface="Calibri" pitchFamily="34" charset="0"/>
                <a:ea typeface="Calibri" pitchFamily="34" charset="-122"/>
                <a:cs typeface="Calibri" pitchFamily="34" charset="-120"/>
              </a:rPr>
              <a:t>RBF </a:t>
            </a:r>
            <a:endParaRPr lang="en-US" sz="1250" dirty="0"/>
          </a:p>
        </p:txBody>
      </p:sp>
      <p:sp>
        <p:nvSpPr>
          <p:cNvPr id="31" name="Text 29"/>
          <p:cNvSpPr/>
          <p:nvPr/>
        </p:nvSpPr>
        <p:spPr>
          <a:xfrm>
            <a:off x="5047488" y="4315968"/>
            <a:ext cx="1938528" cy="274320"/>
          </a:xfrm>
          <a:prstGeom prst="rect">
            <a:avLst/>
          </a:prstGeom>
          <a:noFill/>
          <a:ln/>
        </p:spPr>
        <p:txBody>
          <a:bodyPr wrap="square" lIns="0" tIns="0" rIns="0" bIns="0" rtlCol="0" anchor="ctr"/>
          <a:lstStyle/>
          <a:p>
            <a:pPr marL="0" indent="0" algn="ctr">
              <a:buNone/>
            </a:pPr>
            <a:r>
              <a:rPr lang="en-US" sz="1000" dirty="0">
                <a:solidFill>
                  <a:srgbClr val="5F6E73"/>
                </a:solidFill>
                <a:latin typeface="Calibri" pitchFamily="34" charset="0"/>
                <a:ea typeface="Calibri" pitchFamily="34" charset="-122"/>
                <a:cs typeface="Calibri" pitchFamily="34" charset="-120"/>
              </a:rPr>
              <a:t>Spline de placa delgada</a:t>
            </a:r>
            <a:endParaRPr lang="en-US" sz="1000" dirty="0"/>
          </a:p>
        </p:txBody>
      </p:sp>
      <p:sp>
        <p:nvSpPr>
          <p:cNvPr id="32" name="Shape 30"/>
          <p:cNvSpPr/>
          <p:nvPr/>
        </p:nvSpPr>
        <p:spPr>
          <a:xfrm>
            <a:off x="7187184" y="3246120"/>
            <a:ext cx="2084832" cy="1371600"/>
          </a:xfrm>
          <a:prstGeom prst="roundRect">
            <a:avLst>
              <a:gd name="adj" fmla="val 5333"/>
            </a:avLst>
          </a:prstGeom>
          <a:solidFill>
            <a:srgbClr val="E7F1F0"/>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33" name="Shape 31"/>
          <p:cNvSpPr/>
          <p:nvPr/>
        </p:nvSpPr>
        <p:spPr>
          <a:xfrm>
            <a:off x="8010144" y="3401568"/>
            <a:ext cx="457200" cy="457200"/>
          </a:xfrm>
          <a:prstGeom prst="ellipse">
            <a:avLst/>
          </a:prstGeom>
          <a:solidFill>
            <a:srgbClr val="2E8C86"/>
          </a:solidFill>
          <a:ln/>
        </p:spPr>
        <p:txBody>
          <a:bodyPr/>
          <a:lstStyle/>
          <a:p>
            <a:endParaRPr lang="es-CO"/>
          </a:p>
        </p:txBody>
      </p:sp>
      <p:sp>
        <p:nvSpPr>
          <p:cNvPr id="34" name="Text 32"/>
          <p:cNvSpPr/>
          <p:nvPr/>
        </p:nvSpPr>
        <p:spPr>
          <a:xfrm>
            <a:off x="7260336" y="3913632"/>
            <a:ext cx="1938528" cy="457200"/>
          </a:xfrm>
          <a:prstGeom prst="rect">
            <a:avLst/>
          </a:prstGeom>
          <a:noFill/>
          <a:ln/>
        </p:spPr>
        <p:txBody>
          <a:bodyPr wrap="square" lIns="0" tIns="0" rIns="0" bIns="0" rtlCol="0" anchor="ctr"/>
          <a:lstStyle/>
          <a:p>
            <a:pPr marL="0" indent="0" algn="ctr">
              <a:lnSpc>
                <a:spcPts val="1400"/>
              </a:lnSpc>
              <a:buNone/>
            </a:pPr>
            <a:r>
              <a:rPr lang="en-US" sz="1250" b="1" dirty="0">
                <a:solidFill>
                  <a:srgbClr val="1B2A30"/>
                </a:solidFill>
                <a:latin typeface="Calibri" pitchFamily="34" charset="0"/>
                <a:ea typeface="Calibri" pitchFamily="34" charset="-122"/>
                <a:cs typeface="Calibri" pitchFamily="34" charset="-120"/>
              </a:rPr>
              <a:t>Kriging Ordinario</a:t>
            </a:r>
            <a:endParaRPr lang="en-US" sz="1250" dirty="0"/>
          </a:p>
        </p:txBody>
      </p:sp>
      <p:sp>
        <p:nvSpPr>
          <p:cNvPr id="35" name="Text 33"/>
          <p:cNvSpPr/>
          <p:nvPr/>
        </p:nvSpPr>
        <p:spPr>
          <a:xfrm>
            <a:off x="7260336" y="4315968"/>
            <a:ext cx="1938528" cy="274320"/>
          </a:xfrm>
          <a:prstGeom prst="rect">
            <a:avLst/>
          </a:prstGeom>
          <a:noFill/>
          <a:ln/>
        </p:spPr>
        <p:txBody>
          <a:bodyPr wrap="square" lIns="0" tIns="0" rIns="0" bIns="0" rtlCol="0" anchor="ctr"/>
          <a:lstStyle/>
          <a:p>
            <a:pPr marL="0" indent="0" algn="ctr">
              <a:buNone/>
            </a:pPr>
            <a:r>
              <a:rPr lang="en-US" sz="1000" dirty="0">
                <a:solidFill>
                  <a:srgbClr val="5F6E73"/>
                </a:solidFill>
                <a:latin typeface="Calibri" pitchFamily="34" charset="0"/>
                <a:ea typeface="Calibri" pitchFamily="34" charset="-122"/>
                <a:cs typeface="Calibri" pitchFamily="34" charset="-120"/>
              </a:rPr>
              <a:t>Geoestadístico (BLUE)</a:t>
            </a:r>
            <a:endParaRPr lang="en-US" sz="1000" dirty="0"/>
          </a:p>
        </p:txBody>
      </p:sp>
      <p:sp>
        <p:nvSpPr>
          <p:cNvPr id="36" name="Shape 34"/>
          <p:cNvSpPr/>
          <p:nvPr/>
        </p:nvSpPr>
        <p:spPr>
          <a:xfrm>
            <a:off x="9400032" y="3246120"/>
            <a:ext cx="2084832" cy="1371600"/>
          </a:xfrm>
          <a:prstGeom prst="roundRect">
            <a:avLst>
              <a:gd name="adj" fmla="val 5333"/>
            </a:avLst>
          </a:prstGeom>
          <a:solidFill>
            <a:srgbClr val="E7F1F0"/>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37" name="Shape 35"/>
          <p:cNvSpPr/>
          <p:nvPr/>
        </p:nvSpPr>
        <p:spPr>
          <a:xfrm>
            <a:off x="10222992" y="3401568"/>
            <a:ext cx="457200" cy="457200"/>
          </a:xfrm>
          <a:prstGeom prst="ellipse">
            <a:avLst/>
          </a:prstGeom>
          <a:solidFill>
            <a:srgbClr val="2E8C86"/>
          </a:solidFill>
          <a:ln/>
        </p:spPr>
        <p:txBody>
          <a:bodyPr/>
          <a:lstStyle/>
          <a:p>
            <a:endParaRPr lang="es-CO"/>
          </a:p>
        </p:txBody>
      </p:sp>
      <p:sp>
        <p:nvSpPr>
          <p:cNvPr id="38" name="Text 36"/>
          <p:cNvSpPr/>
          <p:nvPr/>
        </p:nvSpPr>
        <p:spPr>
          <a:xfrm>
            <a:off x="9473184" y="3913632"/>
            <a:ext cx="1938528" cy="457200"/>
          </a:xfrm>
          <a:prstGeom prst="rect">
            <a:avLst/>
          </a:prstGeom>
          <a:noFill/>
          <a:ln/>
        </p:spPr>
        <p:txBody>
          <a:bodyPr wrap="square" lIns="0" tIns="0" rIns="0" bIns="0" rtlCol="0" anchor="ctr"/>
          <a:lstStyle/>
          <a:p>
            <a:pPr marL="0" indent="0" algn="ctr">
              <a:lnSpc>
                <a:spcPts val="1400"/>
              </a:lnSpc>
              <a:buNone/>
            </a:pPr>
            <a:r>
              <a:rPr lang="en-US" sz="1250" b="1" dirty="0">
                <a:solidFill>
                  <a:srgbClr val="1B2A30"/>
                </a:solidFill>
                <a:latin typeface="Calibri" pitchFamily="34" charset="0"/>
                <a:ea typeface="Calibri" pitchFamily="34" charset="-122"/>
                <a:cs typeface="Calibri" pitchFamily="34" charset="-120"/>
              </a:rPr>
              <a:t>Proceso Gaussiano</a:t>
            </a:r>
            <a:endParaRPr lang="en-US" sz="1250" dirty="0"/>
          </a:p>
        </p:txBody>
      </p:sp>
      <p:sp>
        <p:nvSpPr>
          <p:cNvPr id="39" name="Text 37"/>
          <p:cNvSpPr/>
          <p:nvPr/>
        </p:nvSpPr>
        <p:spPr>
          <a:xfrm>
            <a:off x="9473184" y="4315968"/>
            <a:ext cx="1938528" cy="274320"/>
          </a:xfrm>
          <a:prstGeom prst="rect">
            <a:avLst/>
          </a:prstGeom>
          <a:noFill/>
          <a:ln/>
        </p:spPr>
        <p:txBody>
          <a:bodyPr wrap="square" lIns="0" tIns="0" rIns="0" bIns="0" rtlCol="0" anchor="ctr"/>
          <a:lstStyle/>
          <a:p>
            <a:pPr marL="0" indent="0" algn="ctr">
              <a:buNone/>
            </a:pPr>
            <a:r>
              <a:rPr lang="en-US" sz="1000" dirty="0">
                <a:solidFill>
                  <a:srgbClr val="5F6E73"/>
                </a:solidFill>
                <a:latin typeface="Calibri" pitchFamily="34" charset="0"/>
                <a:ea typeface="Calibri" pitchFamily="34" charset="-122"/>
                <a:cs typeface="Calibri" pitchFamily="34" charset="-120"/>
              </a:rPr>
              <a:t>Bayesiano (Matérn)</a:t>
            </a:r>
            <a:endParaRPr lang="en-US" sz="1000" dirty="0"/>
          </a:p>
        </p:txBody>
      </p:sp>
      <p:sp>
        <p:nvSpPr>
          <p:cNvPr id="40" name="Shape 38"/>
          <p:cNvSpPr/>
          <p:nvPr/>
        </p:nvSpPr>
        <p:spPr>
          <a:xfrm>
            <a:off x="548640" y="4937760"/>
            <a:ext cx="11091672" cy="1234440"/>
          </a:xfrm>
          <a:prstGeom prst="roundRect">
            <a:avLst>
              <a:gd name="adj" fmla="val 5926"/>
            </a:avLst>
          </a:prstGeom>
          <a:solidFill>
            <a:srgbClr val="12333D"/>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41" name="Text 39"/>
          <p:cNvSpPr/>
          <p:nvPr/>
        </p:nvSpPr>
        <p:spPr>
          <a:xfrm>
            <a:off x="822960" y="4937760"/>
            <a:ext cx="10515600" cy="1234440"/>
          </a:xfrm>
          <a:prstGeom prst="rect">
            <a:avLst/>
          </a:prstGeom>
          <a:noFill/>
          <a:ln/>
        </p:spPr>
        <p:txBody>
          <a:bodyPr wrap="square" lIns="0" tIns="0" rIns="0" bIns="0" rtlCol="0" anchor="ctr"/>
          <a:lstStyle/>
          <a:p>
            <a:pPr marL="0" indent="0">
              <a:lnSpc>
                <a:spcPts val="1900"/>
              </a:lnSpc>
              <a:buNone/>
            </a:pPr>
            <a:r>
              <a:rPr lang="en-US" sz="1400" b="1" dirty="0">
                <a:solidFill>
                  <a:srgbClr val="D99A4E"/>
                </a:solidFill>
                <a:latin typeface="Calibri" pitchFamily="34" charset="0"/>
                <a:ea typeface="Calibri" pitchFamily="34" charset="-122"/>
                <a:cs typeface="Calibri" pitchFamily="34" charset="-120"/>
              </a:rPr>
              <a:t>Validación </a:t>
            </a:r>
            <a:r>
              <a:rPr lang="en-US" sz="1400" b="1" dirty="0" err="1">
                <a:solidFill>
                  <a:srgbClr val="D99A4E"/>
                </a:solidFill>
                <a:latin typeface="Calibri" pitchFamily="34" charset="0"/>
                <a:ea typeface="Calibri" pitchFamily="34" charset="-122"/>
                <a:cs typeface="Calibri" pitchFamily="34" charset="-120"/>
              </a:rPr>
              <a:t>cruzada</a:t>
            </a:r>
            <a:r>
              <a:rPr lang="en-US" sz="1400" b="1" dirty="0">
                <a:solidFill>
                  <a:srgbClr val="D99A4E"/>
                </a:solidFill>
                <a:latin typeface="Calibri" pitchFamily="34" charset="0"/>
                <a:ea typeface="Calibri" pitchFamily="34" charset="-122"/>
                <a:cs typeface="Calibri" pitchFamily="34" charset="-120"/>
              </a:rPr>
              <a:t> </a:t>
            </a:r>
            <a:r>
              <a:rPr lang="en-US" sz="1400" b="1" dirty="0" err="1">
                <a:solidFill>
                  <a:srgbClr val="D99A4E"/>
                </a:solidFill>
                <a:latin typeface="Calibri" pitchFamily="34" charset="0"/>
                <a:ea typeface="Calibri" pitchFamily="34" charset="-122"/>
                <a:cs typeface="Calibri" pitchFamily="34" charset="-120"/>
              </a:rPr>
              <a:t>unificada</a:t>
            </a:r>
            <a:r>
              <a:rPr lang="en-US" sz="1400" b="1" dirty="0">
                <a:solidFill>
                  <a:srgbClr val="D99A4E"/>
                </a:solidFill>
                <a:latin typeface="Calibri" pitchFamily="34" charset="0"/>
                <a:ea typeface="Calibri" pitchFamily="34" charset="-122"/>
                <a:cs typeface="Calibri" pitchFamily="34" charset="-120"/>
              </a:rPr>
              <a:t>.  </a:t>
            </a:r>
            <a:r>
              <a:rPr lang="en-US" sz="1400" dirty="0">
                <a:solidFill>
                  <a:srgbClr val="FFFFFF"/>
                </a:solidFill>
                <a:latin typeface="Calibri" pitchFamily="34" charset="0"/>
                <a:ea typeface="Calibri" pitchFamily="34" charset="-122"/>
                <a:cs typeface="Calibri" pitchFamily="34" charset="-120"/>
              </a:rPr>
              <a:t>Todos los métodos se evalúan con la misma partición y métricas comparables en ppm (RMSE, MAE, sesgo, R²), permitiendo un contraste objetivo — no sólo visual.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75488"/>
            <a:ext cx="475488" cy="475488"/>
          </a:xfrm>
          <a:prstGeom prst="ellipse">
            <a:avLst/>
          </a:prstGeom>
          <a:solidFill>
            <a:srgbClr val="2E8C86"/>
          </a:solidFill>
          <a:ln/>
        </p:spPr>
        <p:txBody>
          <a:bodyPr/>
          <a:lstStyle/>
          <a:p>
            <a:endParaRPr lang="es-CO"/>
          </a:p>
        </p:txBody>
      </p:sp>
      <p:sp>
        <p:nvSpPr>
          <p:cNvPr id="3" name="Text 1"/>
          <p:cNvSpPr/>
          <p:nvPr/>
        </p:nvSpPr>
        <p:spPr>
          <a:xfrm>
            <a:off x="502920" y="47548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143000" y="411480"/>
            <a:ext cx="10424160" cy="621792"/>
          </a:xfrm>
          <a:prstGeom prst="rect">
            <a:avLst/>
          </a:prstGeom>
          <a:noFill/>
          <a:ln/>
        </p:spPr>
        <p:txBody>
          <a:bodyPr wrap="square" lIns="0" tIns="0" rIns="0" bIns="0" rtlCol="0" anchor="ctr"/>
          <a:lstStyle/>
          <a:p>
            <a:pPr marL="0" indent="0" algn="l">
              <a:buNone/>
            </a:pPr>
            <a:r>
              <a:rPr lang="en-US" sz="2800" b="1" dirty="0">
                <a:solidFill>
                  <a:srgbClr val="1B2A30"/>
                </a:solidFill>
                <a:latin typeface="Cambria" pitchFamily="34" charset="0"/>
                <a:ea typeface="Cambria" pitchFamily="34" charset="-122"/>
                <a:cs typeface="Cambria" pitchFamily="34" charset="-120"/>
              </a:rPr>
              <a:t>Estructura espacial: variografía</a:t>
            </a:r>
            <a:endParaRPr lang="en-US" sz="2800" dirty="0"/>
          </a:p>
        </p:txBody>
      </p:sp>
      <p:pic>
        <p:nvPicPr>
          <p:cNvPr id="5" name="Image 0" descr="slides_img/variograma.png"/>
          <p:cNvPicPr>
            <a:picLocks noChangeAspect="1"/>
          </p:cNvPicPr>
          <p:nvPr/>
        </p:nvPicPr>
        <p:blipFill>
          <a:blip r:embed="rId3"/>
          <a:stretch>
            <a:fillRect/>
          </a:stretch>
        </p:blipFill>
        <p:spPr>
          <a:xfrm>
            <a:off x="484632" y="1463040"/>
            <a:ext cx="5431536" cy="3291840"/>
          </a:xfrm>
          <a:prstGeom prst="rect">
            <a:avLst/>
          </a:prstGeom>
          <a:effectLst>
            <a:outerShdw blurRad="76200" dist="25400" dir="5400000" algn="bl" rotWithShape="0">
              <a:srgbClr val="7A8A8A">
                <a:alpha val="35000"/>
              </a:srgbClr>
            </a:outerShdw>
          </a:effectLst>
        </p:spPr>
      </p:pic>
      <p:pic>
        <p:nvPicPr>
          <p:cNvPr id="6" name="Image 1" descr="slides_img/anisotropia.png"/>
          <p:cNvPicPr>
            <a:picLocks noChangeAspect="1"/>
          </p:cNvPicPr>
          <p:nvPr/>
        </p:nvPicPr>
        <p:blipFill>
          <a:blip r:embed="rId4"/>
          <a:stretch>
            <a:fillRect/>
          </a:stretch>
        </p:blipFill>
        <p:spPr>
          <a:xfrm>
            <a:off x="1137514" y="4800600"/>
            <a:ext cx="4308653" cy="1737360"/>
          </a:xfrm>
          <a:prstGeom prst="rect">
            <a:avLst/>
          </a:prstGeom>
          <a:effectLst>
            <a:outerShdw blurRad="76200" dist="25400" dir="5400000" algn="bl" rotWithShape="0">
              <a:srgbClr val="7A8A8A">
                <a:alpha val="35000"/>
              </a:srgbClr>
            </a:outerShdw>
          </a:effectLst>
        </p:spPr>
      </p:pic>
      <p:sp>
        <p:nvSpPr>
          <p:cNvPr id="7" name="Shape 3"/>
          <p:cNvSpPr/>
          <p:nvPr/>
        </p:nvSpPr>
        <p:spPr>
          <a:xfrm>
            <a:off x="6400800" y="1554480"/>
            <a:ext cx="2514600" cy="1371600"/>
          </a:xfrm>
          <a:prstGeom prst="roundRect">
            <a:avLst>
              <a:gd name="adj" fmla="val 5333"/>
            </a:avLst>
          </a:prstGeom>
          <a:solidFill>
            <a:srgbClr val="FFFFFF"/>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8" name="Text 4"/>
          <p:cNvSpPr/>
          <p:nvPr/>
        </p:nvSpPr>
        <p:spPr>
          <a:xfrm>
            <a:off x="6492240" y="1664208"/>
            <a:ext cx="2331720" cy="685800"/>
          </a:xfrm>
          <a:prstGeom prst="rect">
            <a:avLst/>
          </a:prstGeom>
          <a:noFill/>
          <a:ln/>
        </p:spPr>
        <p:txBody>
          <a:bodyPr wrap="square" lIns="0" tIns="0" rIns="0" bIns="0" rtlCol="0" anchor="ctr"/>
          <a:lstStyle/>
          <a:p>
            <a:pPr marL="0" indent="0" algn="ctr">
              <a:buNone/>
            </a:pPr>
            <a:r>
              <a:rPr lang="en-US" sz="3400" b="1" dirty="0">
                <a:solidFill>
                  <a:srgbClr val="D99A4E"/>
                </a:solidFill>
                <a:latin typeface="Cambria" pitchFamily="34" charset="0"/>
                <a:ea typeface="Cambria" pitchFamily="34" charset="-122"/>
                <a:cs typeface="Cambria" pitchFamily="34" charset="-120"/>
              </a:rPr>
              <a:t>37%</a:t>
            </a:r>
            <a:endParaRPr lang="en-US" sz="3400" dirty="0"/>
          </a:p>
        </p:txBody>
      </p:sp>
      <p:sp>
        <p:nvSpPr>
          <p:cNvPr id="9" name="Text 5"/>
          <p:cNvSpPr/>
          <p:nvPr/>
        </p:nvSpPr>
        <p:spPr>
          <a:xfrm>
            <a:off x="6510528" y="2359152"/>
            <a:ext cx="2295144" cy="457200"/>
          </a:xfrm>
          <a:prstGeom prst="rect">
            <a:avLst/>
          </a:prstGeom>
          <a:noFill/>
          <a:ln/>
        </p:spPr>
        <p:txBody>
          <a:bodyPr wrap="square" lIns="0" tIns="0" rIns="0" bIns="0" rtlCol="0" anchor="t"/>
          <a:lstStyle/>
          <a:p>
            <a:pPr marL="0" indent="0" algn="ctr">
              <a:buNone/>
            </a:pPr>
            <a:r>
              <a:rPr lang="en-US" sz="1250" dirty="0">
                <a:solidFill>
                  <a:srgbClr val="5F6E73"/>
                </a:solidFill>
                <a:latin typeface="Calibri" pitchFamily="34" charset="0"/>
                <a:ea typeface="Calibri" pitchFamily="34" charset="-122"/>
                <a:cs typeface="Calibri" pitchFamily="34" charset="-120"/>
              </a:rPr>
              <a:t>efecto pepita (nugget)</a:t>
            </a:r>
            <a:endParaRPr lang="en-US" sz="1250" dirty="0"/>
          </a:p>
        </p:txBody>
      </p:sp>
      <p:sp>
        <p:nvSpPr>
          <p:cNvPr id="10" name="Shape 6"/>
          <p:cNvSpPr/>
          <p:nvPr/>
        </p:nvSpPr>
        <p:spPr>
          <a:xfrm>
            <a:off x="9006840" y="1554480"/>
            <a:ext cx="2514600" cy="1371600"/>
          </a:xfrm>
          <a:prstGeom prst="roundRect">
            <a:avLst>
              <a:gd name="adj" fmla="val 5333"/>
            </a:avLst>
          </a:prstGeom>
          <a:solidFill>
            <a:srgbClr val="FFFFFF"/>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11" name="Text 7"/>
          <p:cNvSpPr/>
          <p:nvPr/>
        </p:nvSpPr>
        <p:spPr>
          <a:xfrm>
            <a:off x="9098280" y="1664208"/>
            <a:ext cx="2331720" cy="685800"/>
          </a:xfrm>
          <a:prstGeom prst="rect">
            <a:avLst/>
          </a:prstGeom>
          <a:noFill/>
          <a:ln/>
        </p:spPr>
        <p:txBody>
          <a:bodyPr wrap="square" lIns="0" tIns="0" rIns="0" bIns="0" rtlCol="0" anchor="ctr"/>
          <a:lstStyle/>
          <a:p>
            <a:pPr marL="0" indent="0" algn="ctr">
              <a:buNone/>
            </a:pPr>
            <a:r>
              <a:rPr lang="en-US" sz="3400" b="1" dirty="0">
                <a:solidFill>
                  <a:srgbClr val="1F6E68"/>
                </a:solidFill>
                <a:latin typeface="Cambria" pitchFamily="34" charset="0"/>
                <a:ea typeface="Cambria" pitchFamily="34" charset="-122"/>
                <a:cs typeface="Cambria" pitchFamily="34" charset="-120"/>
              </a:rPr>
              <a:t>~0.62</a:t>
            </a:r>
            <a:endParaRPr lang="en-US" sz="3400" dirty="0"/>
          </a:p>
        </p:txBody>
      </p:sp>
      <p:sp>
        <p:nvSpPr>
          <p:cNvPr id="12" name="Text 8"/>
          <p:cNvSpPr/>
          <p:nvPr/>
        </p:nvSpPr>
        <p:spPr>
          <a:xfrm>
            <a:off x="9116568" y="2359152"/>
            <a:ext cx="2295144" cy="457200"/>
          </a:xfrm>
          <a:prstGeom prst="rect">
            <a:avLst/>
          </a:prstGeom>
          <a:noFill/>
          <a:ln/>
        </p:spPr>
        <p:txBody>
          <a:bodyPr wrap="square" lIns="0" tIns="0" rIns="0" bIns="0" rtlCol="0" anchor="t"/>
          <a:lstStyle/>
          <a:p>
            <a:pPr marL="0" indent="0" algn="ctr">
              <a:buNone/>
            </a:pPr>
            <a:r>
              <a:rPr lang="en-US" sz="1250" dirty="0">
                <a:solidFill>
                  <a:srgbClr val="5F6E73"/>
                </a:solidFill>
                <a:latin typeface="Calibri" pitchFamily="34" charset="0"/>
                <a:ea typeface="Calibri" pitchFamily="34" charset="-122"/>
                <a:cs typeface="Calibri" pitchFamily="34" charset="-120"/>
              </a:rPr>
              <a:t>techo de R² alcanzable</a:t>
            </a:r>
            <a:endParaRPr lang="en-US" sz="1250" dirty="0"/>
          </a:p>
        </p:txBody>
      </p:sp>
      <p:sp>
        <p:nvSpPr>
          <p:cNvPr id="13" name="Shape 9"/>
          <p:cNvSpPr/>
          <p:nvPr/>
        </p:nvSpPr>
        <p:spPr>
          <a:xfrm>
            <a:off x="6400800" y="3154680"/>
            <a:ext cx="5120640" cy="3108960"/>
          </a:xfrm>
          <a:prstGeom prst="roundRect">
            <a:avLst>
              <a:gd name="adj" fmla="val 2353"/>
            </a:avLst>
          </a:prstGeom>
          <a:solidFill>
            <a:srgbClr val="EEF3F3"/>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14" name="Text 10"/>
          <p:cNvSpPr/>
          <p:nvPr/>
        </p:nvSpPr>
        <p:spPr>
          <a:xfrm>
            <a:off x="6629400" y="3291840"/>
            <a:ext cx="4754880" cy="411480"/>
          </a:xfrm>
          <a:prstGeom prst="rect">
            <a:avLst/>
          </a:prstGeom>
          <a:noFill/>
          <a:ln/>
        </p:spPr>
        <p:txBody>
          <a:bodyPr wrap="square" lIns="0" tIns="0" rIns="0" bIns="0" rtlCol="0" anchor="ctr"/>
          <a:lstStyle/>
          <a:p>
            <a:pPr marL="0" indent="0">
              <a:buNone/>
            </a:pPr>
            <a:r>
              <a:rPr lang="en-US" sz="1600" b="1" dirty="0">
                <a:solidFill>
                  <a:srgbClr val="1F6E68"/>
                </a:solidFill>
                <a:latin typeface="Cambria" pitchFamily="34" charset="0"/>
                <a:ea typeface="Cambria" pitchFamily="34" charset="-122"/>
                <a:cs typeface="Cambria" pitchFamily="34" charset="-120"/>
              </a:rPr>
              <a:t>Dos hallazgos estructurales</a:t>
            </a:r>
            <a:endParaRPr lang="en-US" sz="1600" dirty="0"/>
          </a:p>
        </p:txBody>
      </p:sp>
      <p:sp>
        <p:nvSpPr>
          <p:cNvPr id="15" name="Text 11"/>
          <p:cNvSpPr/>
          <p:nvPr/>
        </p:nvSpPr>
        <p:spPr>
          <a:xfrm>
            <a:off x="6629400" y="3749040"/>
            <a:ext cx="4754880" cy="1097280"/>
          </a:xfrm>
          <a:prstGeom prst="rect">
            <a:avLst/>
          </a:prstGeom>
          <a:noFill/>
          <a:ln/>
        </p:spPr>
        <p:txBody>
          <a:bodyPr wrap="square" lIns="0" tIns="0" rIns="0" bIns="0" rtlCol="0" anchor="t"/>
          <a:lstStyle/>
          <a:p>
            <a:pPr marL="0" indent="0">
              <a:lnSpc>
                <a:spcPts val="1700"/>
              </a:lnSpc>
              <a:buNone/>
            </a:pPr>
            <a:r>
              <a:rPr lang="en-US" sz="1300" b="1" dirty="0">
                <a:solidFill>
                  <a:srgbClr val="1B2A30"/>
                </a:solidFill>
                <a:latin typeface="Calibri" pitchFamily="34" charset="0"/>
                <a:ea typeface="Calibri" pitchFamily="34" charset="-122"/>
                <a:cs typeface="Calibri" pitchFamily="34" charset="-120"/>
              </a:rPr>
              <a:t>• Nugget alto (~37%): </a:t>
            </a:r>
            <a:r>
              <a:rPr lang="en-US" sz="1300" dirty="0">
                <a:solidFill>
                  <a:srgbClr val="5F6E73"/>
                </a:solidFill>
                <a:latin typeface="Calibri" pitchFamily="34" charset="0"/>
                <a:ea typeface="Calibri" pitchFamily="34" charset="-122"/>
                <a:cs typeface="Calibri" pitchFamily="34" charset="-120"/>
              </a:rPr>
              <a:t>gran parte de la varianza es ruido a la escala de muestreo — fija un techo a lo predecible por cualquier método.</a:t>
            </a:r>
            <a:endParaRPr lang="en-US" sz="1300" dirty="0"/>
          </a:p>
        </p:txBody>
      </p:sp>
      <p:sp>
        <p:nvSpPr>
          <p:cNvPr id="16" name="Text 12"/>
          <p:cNvSpPr/>
          <p:nvPr/>
        </p:nvSpPr>
        <p:spPr>
          <a:xfrm>
            <a:off x="6629400" y="4892040"/>
            <a:ext cx="4754880" cy="1188720"/>
          </a:xfrm>
          <a:prstGeom prst="rect">
            <a:avLst/>
          </a:prstGeom>
          <a:noFill/>
          <a:ln/>
        </p:spPr>
        <p:txBody>
          <a:bodyPr wrap="square" lIns="0" tIns="0" rIns="0" bIns="0" rtlCol="0" anchor="t"/>
          <a:lstStyle/>
          <a:p>
            <a:pPr marL="0" indent="0">
              <a:lnSpc>
                <a:spcPts val="1700"/>
              </a:lnSpc>
              <a:buNone/>
            </a:pPr>
            <a:r>
              <a:rPr lang="en-US" sz="1300" b="1" dirty="0">
                <a:solidFill>
                  <a:srgbClr val="1B2A30"/>
                </a:solidFill>
                <a:latin typeface="Calibri" pitchFamily="34" charset="0"/>
                <a:ea typeface="Calibri" pitchFamily="34" charset="-122"/>
                <a:cs typeface="Calibri" pitchFamily="34" charset="-120"/>
              </a:rPr>
              <a:t>• Anisotropía ~N-S (razón 5.7:1): </a:t>
            </a:r>
            <a:r>
              <a:rPr lang="en-US" sz="1300" dirty="0">
                <a:solidFill>
                  <a:srgbClr val="5F6E73"/>
                </a:solidFill>
                <a:latin typeface="Calibri" pitchFamily="34" charset="0"/>
                <a:ea typeface="Calibri" pitchFamily="34" charset="-122"/>
                <a:cs typeface="Calibri" pitchFamily="34" charset="-120"/>
              </a:rPr>
              <a:t>mayor continuidad en dirección Norte-Sur, coherente con el grano estructural regional.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75488"/>
            <a:ext cx="475488" cy="475488"/>
          </a:xfrm>
          <a:prstGeom prst="ellipse">
            <a:avLst/>
          </a:prstGeom>
          <a:solidFill>
            <a:srgbClr val="2E8C86"/>
          </a:solidFill>
          <a:ln/>
        </p:spPr>
        <p:txBody>
          <a:bodyPr/>
          <a:lstStyle/>
          <a:p>
            <a:endParaRPr lang="es-CO"/>
          </a:p>
        </p:txBody>
      </p:sp>
      <p:sp>
        <p:nvSpPr>
          <p:cNvPr id="3" name="Text 1"/>
          <p:cNvSpPr/>
          <p:nvPr/>
        </p:nvSpPr>
        <p:spPr>
          <a:xfrm>
            <a:off x="502920" y="47548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p:cNvSpPr/>
          <p:nvPr/>
        </p:nvSpPr>
        <p:spPr>
          <a:xfrm>
            <a:off x="1143000" y="411480"/>
            <a:ext cx="10424160" cy="621792"/>
          </a:xfrm>
          <a:prstGeom prst="rect">
            <a:avLst/>
          </a:prstGeom>
          <a:noFill/>
          <a:ln/>
        </p:spPr>
        <p:txBody>
          <a:bodyPr wrap="square" lIns="0" tIns="0" rIns="0" bIns="0" rtlCol="0" anchor="ctr"/>
          <a:lstStyle/>
          <a:p>
            <a:pPr marL="0" indent="0" algn="l">
              <a:buNone/>
            </a:pPr>
            <a:r>
              <a:rPr lang="en-US" sz="2800" b="1" dirty="0">
                <a:solidFill>
                  <a:srgbClr val="1B2A30"/>
                </a:solidFill>
                <a:latin typeface="Cambria" pitchFamily="34" charset="0"/>
                <a:ea typeface="Cambria" pitchFamily="34" charset="-122"/>
                <a:cs typeface="Cambria" pitchFamily="34" charset="-120"/>
              </a:rPr>
              <a:t>Resultados: comparación de métodos</a:t>
            </a:r>
            <a:endParaRPr lang="en-US" sz="2800" dirty="0"/>
          </a:p>
        </p:txBody>
      </p:sp>
      <p:pic>
        <p:nvPicPr>
          <p:cNvPr id="5" name="Image 0" descr="slides_img/superficies.png"/>
          <p:cNvPicPr>
            <a:picLocks noChangeAspect="1"/>
          </p:cNvPicPr>
          <p:nvPr/>
        </p:nvPicPr>
        <p:blipFill>
          <a:blip r:embed="rId3"/>
          <a:stretch>
            <a:fillRect/>
          </a:stretch>
        </p:blipFill>
        <p:spPr>
          <a:xfrm>
            <a:off x="411480" y="1585061"/>
            <a:ext cx="6949440" cy="4602278"/>
          </a:xfrm>
          <a:prstGeom prst="rect">
            <a:avLst/>
          </a:prstGeom>
          <a:effectLst>
            <a:outerShdw blurRad="76200" dist="25400" dir="5400000" algn="bl" rotWithShape="0">
              <a:srgbClr val="7A8A8A">
                <a:alpha val="35000"/>
              </a:srgbClr>
            </a:outerShdw>
          </a:effectLst>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543800" y="1600200"/>
          <a:ext cx="4160520" cy="2852928"/>
        </p:xfrm>
        <a:graphic>
          <a:graphicData uri="http://schemas.openxmlformats.org/drawingml/2006/table">
            <a:tbl>
              <a:tblPr/>
              <a:tblGrid>
                <a:gridCol w="2331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7548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Método</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1F6E6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RMSE</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1F6E6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R²</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1F6E68"/>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1B2A30"/>
                          </a:solidFill>
                          <a:latin typeface="Calibri" pitchFamily="34" charset="0"/>
                          <a:ea typeface="Calibri" pitchFamily="34" charset="-122"/>
                          <a:cs typeface="Calibri" pitchFamily="34" charset="-120"/>
                        </a:rPr>
                        <a:t>Proceso Gaussiano</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E7F1F0"/>
                    </a:solidFill>
                  </a:tcPr>
                </a:tc>
                <a:tc>
                  <a:txBody>
                    <a:bodyPr/>
                    <a:lstStyle/>
                    <a:p>
                      <a:pPr marL="0" indent="0" algn="ctr">
                        <a:buNone/>
                      </a:pPr>
                      <a:r>
                        <a:rPr lang="en-US" sz="1300" dirty="0">
                          <a:solidFill>
                            <a:srgbClr val="1B2A30"/>
                          </a:solidFill>
                          <a:latin typeface="Calibri" pitchFamily="34" charset="0"/>
                          <a:ea typeface="Calibri" pitchFamily="34" charset="-122"/>
                          <a:cs typeface="Calibri" pitchFamily="34" charset="-120"/>
                        </a:rPr>
                        <a:t>25.7</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E7F1F0"/>
                    </a:solidFill>
                  </a:tcPr>
                </a:tc>
                <a:tc>
                  <a:txBody>
                    <a:bodyPr/>
                    <a:lstStyle/>
                    <a:p>
                      <a:pPr marL="0" indent="0" algn="ctr">
                        <a:buNone/>
                      </a:pPr>
                      <a:r>
                        <a:rPr lang="en-US" sz="1300" dirty="0">
                          <a:solidFill>
                            <a:srgbClr val="1B2A30"/>
                          </a:solidFill>
                          <a:latin typeface="Calibri" pitchFamily="34" charset="0"/>
                          <a:ea typeface="Calibri" pitchFamily="34" charset="-122"/>
                          <a:cs typeface="Calibri" pitchFamily="34" charset="-120"/>
                        </a:rPr>
                        <a:t>0.52</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E7F1F0"/>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1B2A30"/>
                          </a:solidFill>
                          <a:latin typeface="Calibri" pitchFamily="34" charset="0"/>
                          <a:ea typeface="Calibri" pitchFamily="34" charset="-122"/>
                          <a:cs typeface="Calibri" pitchFamily="34" charset="-120"/>
                        </a:rPr>
                        <a:t>Kriging Ordinario</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E7F1F0"/>
                    </a:solidFill>
                  </a:tcPr>
                </a:tc>
                <a:tc>
                  <a:txBody>
                    <a:bodyPr/>
                    <a:lstStyle/>
                    <a:p>
                      <a:pPr marL="0" indent="0" algn="ctr">
                        <a:buNone/>
                      </a:pPr>
                      <a:r>
                        <a:rPr lang="en-US" sz="1300" dirty="0">
                          <a:solidFill>
                            <a:srgbClr val="1B2A30"/>
                          </a:solidFill>
                          <a:latin typeface="Calibri" pitchFamily="34" charset="0"/>
                          <a:ea typeface="Calibri" pitchFamily="34" charset="-122"/>
                          <a:cs typeface="Calibri" pitchFamily="34" charset="-120"/>
                        </a:rPr>
                        <a:t>26.3</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E7F1F0"/>
                    </a:solidFill>
                  </a:tcPr>
                </a:tc>
                <a:tc>
                  <a:txBody>
                    <a:bodyPr/>
                    <a:lstStyle/>
                    <a:p>
                      <a:pPr marL="0" indent="0" algn="ctr">
                        <a:buNone/>
                      </a:pPr>
                      <a:r>
                        <a:rPr lang="en-US" sz="1300" dirty="0">
                          <a:solidFill>
                            <a:srgbClr val="1B2A30"/>
                          </a:solidFill>
                          <a:latin typeface="Calibri" pitchFamily="34" charset="0"/>
                          <a:ea typeface="Calibri" pitchFamily="34" charset="-122"/>
                          <a:cs typeface="Calibri" pitchFamily="34" charset="-120"/>
                        </a:rPr>
                        <a:t>0.49</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E7F1F0"/>
                    </a:solidFill>
                  </a:tcPr>
                </a:tc>
                <a:extLst>
                  <a:ext uri="{0D108BD9-81ED-4DB2-BD59-A6C34878D82A}">
                    <a16:rowId xmlns:a16="http://schemas.microsoft.com/office/drawing/2014/main" val="10002"/>
                  </a:ext>
                </a:extLst>
              </a:tr>
              <a:tr h="475488">
                <a:tc>
                  <a:txBody>
                    <a:bodyPr/>
                    <a:lstStyle/>
                    <a:p>
                      <a:pPr marL="0" indent="0">
                        <a:buNone/>
                      </a:pPr>
                      <a:r>
                        <a:rPr lang="en-US" sz="1300" dirty="0">
                          <a:solidFill>
                            <a:srgbClr val="1B2A30"/>
                          </a:solidFill>
                          <a:latin typeface="Calibri" pitchFamily="34" charset="0"/>
                          <a:ea typeface="Calibri" pitchFamily="34" charset="-122"/>
                          <a:cs typeface="Calibri" pitchFamily="34" charset="-120"/>
                        </a:rPr>
                        <a:t>IDW (p=2)</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0"/>
                          </a:solidFill>
                          <a:latin typeface="Calibri" pitchFamily="34" charset="0"/>
                          <a:ea typeface="Calibri" pitchFamily="34" charset="-122"/>
                          <a:cs typeface="Calibri" pitchFamily="34" charset="-120"/>
                        </a:rPr>
                        <a:t>28.2</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0"/>
                          </a:solidFill>
                          <a:latin typeface="Calibri" pitchFamily="34" charset="0"/>
                          <a:ea typeface="Calibri" pitchFamily="34" charset="-122"/>
                          <a:cs typeface="Calibri" pitchFamily="34" charset="-120"/>
                        </a:rPr>
                        <a:t>0.42</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dirty="0">
                          <a:solidFill>
                            <a:srgbClr val="1B2A30"/>
                          </a:solidFill>
                          <a:latin typeface="Calibri" pitchFamily="34" charset="0"/>
                          <a:ea typeface="Calibri" pitchFamily="34" charset="-122"/>
                          <a:cs typeface="Calibri" pitchFamily="34" charset="-120"/>
                        </a:rPr>
                        <a:t>Vecino más cercano</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0"/>
                          </a:solidFill>
                          <a:latin typeface="Calibri" pitchFamily="34" charset="0"/>
                          <a:ea typeface="Calibri" pitchFamily="34" charset="-122"/>
                          <a:cs typeface="Calibri" pitchFamily="34" charset="-120"/>
                        </a:rPr>
                        <a:t>32.3</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0"/>
                          </a:solidFill>
                          <a:latin typeface="Calibri" pitchFamily="34" charset="0"/>
                          <a:ea typeface="Calibri" pitchFamily="34" charset="-122"/>
                          <a:cs typeface="Calibri" pitchFamily="34" charset="-120"/>
                        </a:rPr>
                        <a:t>0.24</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300" dirty="0">
                          <a:solidFill>
                            <a:srgbClr val="1B2A30"/>
                          </a:solidFill>
                          <a:latin typeface="Calibri" pitchFamily="34" charset="0"/>
                          <a:ea typeface="Calibri" pitchFamily="34" charset="-122"/>
                          <a:cs typeface="Calibri" pitchFamily="34" charset="-120"/>
                        </a:rPr>
                        <a:t>RBF thin-plate</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0"/>
                          </a:solidFill>
                          <a:latin typeface="Calibri" pitchFamily="34" charset="0"/>
                          <a:ea typeface="Calibri" pitchFamily="34" charset="-122"/>
                          <a:cs typeface="Calibri" pitchFamily="34" charset="-120"/>
                        </a:rPr>
                        <a:t>34.8</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0"/>
                          </a:solidFill>
                          <a:latin typeface="Calibri" pitchFamily="34" charset="0"/>
                          <a:ea typeface="Calibri" pitchFamily="34" charset="-122"/>
                          <a:cs typeface="Calibri" pitchFamily="34" charset="-120"/>
                        </a:rPr>
                        <a:t>0.11</a:t>
                      </a:r>
                      <a:endParaRPr lang="en-US" sz="1300" dirty="0">
                        <a:latin typeface="Calibri" charset="0"/>
                        <a:ea typeface="Calibri" charset="0"/>
                        <a:cs typeface="Calibri" charset="0"/>
                      </a:endParaRPr>
                    </a:p>
                  </a:txBody>
                  <a:tcPr anchor="ctr">
                    <a:lnL w="12700" cap="flat" cmpd="sng" algn="ctr">
                      <a:solidFill>
                        <a:srgbClr val="DBE4E4"/>
                      </a:solidFill>
                      <a:prstDash val="solid"/>
                      <a:round/>
                      <a:headEnd type="none" w="med" len="med"/>
                      <a:tailEnd type="none" w="med" len="med"/>
                    </a:lnL>
                    <a:lnR w="12700" cap="flat" cmpd="sng" algn="ctr">
                      <a:solidFill>
                        <a:srgbClr val="DBE4E4"/>
                      </a:solidFill>
                      <a:prstDash val="solid"/>
                      <a:round/>
                      <a:headEnd type="none" w="med" len="med"/>
                      <a:tailEnd type="none" w="med" len="med"/>
                    </a:lnR>
                    <a:lnT w="12700" cap="flat" cmpd="sng" algn="ctr">
                      <a:solidFill>
                        <a:srgbClr val="DBE4E4"/>
                      </a:solidFill>
                      <a:prstDash val="solid"/>
                      <a:round/>
                      <a:headEnd type="none" w="med" len="med"/>
                      <a:tailEnd type="none" w="med" len="med"/>
                    </a:lnT>
                    <a:lnB w="12700" cap="flat" cmpd="sng" algn="ctr">
                      <a:solidFill>
                        <a:srgbClr val="DBE4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7543800" y="4480560"/>
            <a:ext cx="4160520" cy="320040"/>
          </a:xfrm>
          <a:prstGeom prst="rect">
            <a:avLst/>
          </a:prstGeom>
          <a:noFill/>
          <a:ln/>
        </p:spPr>
        <p:txBody>
          <a:bodyPr wrap="square" lIns="0" tIns="0" rIns="0" bIns="0" rtlCol="0" anchor="ctr"/>
          <a:lstStyle/>
          <a:p>
            <a:pPr marL="0" indent="0">
              <a:buNone/>
            </a:pPr>
            <a:r>
              <a:rPr lang="en-US" sz="1050" i="1" dirty="0">
                <a:solidFill>
                  <a:srgbClr val="5F6E73"/>
                </a:solidFill>
                <a:latin typeface="Calibri" pitchFamily="34" charset="0"/>
                <a:ea typeface="Calibri" pitchFamily="34" charset="-122"/>
                <a:cs typeface="Calibri" pitchFamily="34" charset="-120"/>
              </a:rPr>
              <a:t>RMSE en ppm · validación cruzada 5-fold</a:t>
            </a:r>
            <a:endParaRPr lang="en-US" sz="1050" dirty="0"/>
          </a:p>
        </p:txBody>
      </p:sp>
      <p:sp>
        <p:nvSpPr>
          <p:cNvPr id="8" name="Shape 4"/>
          <p:cNvSpPr/>
          <p:nvPr/>
        </p:nvSpPr>
        <p:spPr>
          <a:xfrm>
            <a:off x="7543800" y="4892040"/>
            <a:ext cx="4160520" cy="1371600"/>
          </a:xfrm>
          <a:prstGeom prst="roundRect">
            <a:avLst>
              <a:gd name="adj" fmla="val 5333"/>
            </a:avLst>
          </a:prstGeom>
          <a:solidFill>
            <a:srgbClr val="12333D"/>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9" name="Text 5"/>
          <p:cNvSpPr/>
          <p:nvPr/>
        </p:nvSpPr>
        <p:spPr>
          <a:xfrm>
            <a:off x="7772400" y="4892040"/>
            <a:ext cx="3749040" cy="1371600"/>
          </a:xfrm>
          <a:prstGeom prst="rect">
            <a:avLst/>
          </a:prstGeom>
          <a:noFill/>
          <a:ln/>
        </p:spPr>
        <p:txBody>
          <a:bodyPr wrap="square" lIns="0" tIns="0" rIns="0" bIns="0" rtlCol="0" anchor="ctr"/>
          <a:lstStyle/>
          <a:p>
            <a:pPr marL="0" indent="0" algn="ctr">
              <a:lnSpc>
                <a:spcPts val="1700"/>
              </a:lnSpc>
              <a:buNone/>
            </a:pPr>
            <a:r>
              <a:rPr lang="en-US" sz="1400" b="1" dirty="0">
                <a:solidFill>
                  <a:srgbClr val="D99A4E"/>
                </a:solidFill>
                <a:latin typeface="Calibri" pitchFamily="34" charset="0"/>
                <a:ea typeface="Calibri" pitchFamily="34" charset="-122"/>
                <a:cs typeface="Calibri" pitchFamily="34" charset="-120"/>
              </a:rPr>
              <a:t>Kriging y Proceso Gaussiano tienen </a:t>
            </a:r>
            <a:r>
              <a:rPr lang="en-US" sz="1400" b="1" dirty="0" err="1">
                <a:solidFill>
                  <a:srgbClr val="D99A4E"/>
                </a:solidFill>
                <a:latin typeface="Calibri" pitchFamily="34" charset="0"/>
                <a:ea typeface="Calibri" pitchFamily="34" charset="-122"/>
                <a:cs typeface="Calibri" pitchFamily="34" charset="-120"/>
              </a:rPr>
              <a:t>mejor</a:t>
            </a:r>
            <a:r>
              <a:rPr lang="en-US" sz="1400" b="1" dirty="0">
                <a:solidFill>
                  <a:srgbClr val="D99A4E"/>
                </a:solidFill>
                <a:latin typeface="Calibri" pitchFamily="34" charset="0"/>
                <a:ea typeface="Calibri" pitchFamily="34" charset="-122"/>
                <a:cs typeface="Calibri" pitchFamily="34" charset="-120"/>
              </a:rPr>
              <a:t> desempeño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87BE62C-CE21-9339-EAC3-F2158F57A42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F744BBC-021C-7679-7E35-683DB8AB1244}"/>
              </a:ext>
            </a:extLst>
          </p:cNvPr>
          <p:cNvSpPr/>
          <p:nvPr/>
        </p:nvSpPr>
        <p:spPr>
          <a:xfrm>
            <a:off x="502920" y="475488"/>
            <a:ext cx="475488" cy="475488"/>
          </a:xfrm>
          <a:prstGeom prst="ellipse">
            <a:avLst/>
          </a:prstGeom>
          <a:solidFill>
            <a:srgbClr val="2E8C86"/>
          </a:solidFill>
          <a:ln/>
        </p:spPr>
        <p:txBody>
          <a:bodyPr/>
          <a:lstStyle/>
          <a:p>
            <a:endParaRPr lang="es-CO"/>
          </a:p>
        </p:txBody>
      </p:sp>
      <p:sp>
        <p:nvSpPr>
          <p:cNvPr id="3" name="Text 1">
            <a:extLst>
              <a:ext uri="{FF2B5EF4-FFF2-40B4-BE49-F238E27FC236}">
                <a16:creationId xmlns:a16="http://schemas.microsoft.com/office/drawing/2014/main" id="{7CEB4D45-500B-B9D2-1CA6-B80D8BAF1663}"/>
              </a:ext>
            </a:extLst>
          </p:cNvPr>
          <p:cNvSpPr/>
          <p:nvPr/>
        </p:nvSpPr>
        <p:spPr>
          <a:xfrm>
            <a:off x="502920" y="47548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a:extLst>
              <a:ext uri="{FF2B5EF4-FFF2-40B4-BE49-F238E27FC236}">
                <a16:creationId xmlns:a16="http://schemas.microsoft.com/office/drawing/2014/main" id="{808D8F31-50FF-43BF-ECC0-2FF04ACD693B}"/>
              </a:ext>
            </a:extLst>
          </p:cNvPr>
          <p:cNvSpPr/>
          <p:nvPr/>
        </p:nvSpPr>
        <p:spPr>
          <a:xfrm>
            <a:off x="1143000" y="411480"/>
            <a:ext cx="10424160" cy="621792"/>
          </a:xfrm>
          <a:prstGeom prst="rect">
            <a:avLst/>
          </a:prstGeom>
          <a:noFill/>
          <a:ln/>
        </p:spPr>
        <p:txBody>
          <a:bodyPr wrap="square" lIns="0" tIns="0" rIns="0" bIns="0" rtlCol="0" anchor="ctr"/>
          <a:lstStyle/>
          <a:p>
            <a:pPr marL="0" indent="0" algn="l">
              <a:buNone/>
            </a:pPr>
            <a:r>
              <a:rPr lang="en-US" sz="2800" b="1" dirty="0">
                <a:solidFill>
                  <a:srgbClr val="1B2A30"/>
                </a:solidFill>
                <a:latin typeface="Cambria" pitchFamily="34" charset="0"/>
                <a:ea typeface="Cambria" pitchFamily="34" charset="-122"/>
                <a:cs typeface="Cambria" pitchFamily="34" charset="-120"/>
              </a:rPr>
              <a:t>Resultados: comparación de métodos</a:t>
            </a:r>
            <a:endParaRPr lang="en-US" sz="2800" dirty="0"/>
          </a:p>
        </p:txBody>
      </p:sp>
      <p:pic>
        <p:nvPicPr>
          <p:cNvPr id="10" name="Imagen 9">
            <a:extLst>
              <a:ext uri="{FF2B5EF4-FFF2-40B4-BE49-F238E27FC236}">
                <a16:creationId xmlns:a16="http://schemas.microsoft.com/office/drawing/2014/main" id="{6D1E515C-92E0-DBD9-427D-F56583019928}"/>
              </a:ext>
            </a:extLst>
          </p:cNvPr>
          <p:cNvPicPr>
            <a:picLocks noChangeAspect="1"/>
          </p:cNvPicPr>
          <p:nvPr/>
        </p:nvPicPr>
        <p:blipFill>
          <a:blip r:embed="rId3"/>
          <a:stretch>
            <a:fillRect/>
          </a:stretch>
        </p:blipFill>
        <p:spPr>
          <a:xfrm>
            <a:off x="1143000" y="1774583"/>
            <a:ext cx="9144000" cy="3885777"/>
          </a:xfrm>
          <a:prstGeom prst="rect">
            <a:avLst/>
          </a:prstGeom>
        </p:spPr>
      </p:pic>
    </p:spTree>
    <p:extLst>
      <p:ext uri="{BB962C8B-B14F-4D97-AF65-F5344CB8AC3E}">
        <p14:creationId xmlns:p14="http://schemas.microsoft.com/office/powerpoint/2010/main" val="3227217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75488"/>
            <a:ext cx="475488" cy="475488"/>
          </a:xfrm>
          <a:prstGeom prst="ellipse">
            <a:avLst/>
          </a:prstGeom>
          <a:solidFill>
            <a:srgbClr val="2E8C86"/>
          </a:solidFill>
          <a:ln/>
        </p:spPr>
        <p:txBody>
          <a:bodyPr/>
          <a:lstStyle/>
          <a:p>
            <a:endParaRPr lang="es-CO"/>
          </a:p>
        </p:txBody>
      </p:sp>
      <p:sp>
        <p:nvSpPr>
          <p:cNvPr id="3" name="Text 1"/>
          <p:cNvSpPr/>
          <p:nvPr/>
        </p:nvSpPr>
        <p:spPr>
          <a:xfrm>
            <a:off x="502920" y="47548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4" name="Text 2"/>
          <p:cNvSpPr/>
          <p:nvPr/>
        </p:nvSpPr>
        <p:spPr>
          <a:xfrm>
            <a:off x="1143000" y="411480"/>
            <a:ext cx="10424160" cy="621792"/>
          </a:xfrm>
          <a:prstGeom prst="rect">
            <a:avLst/>
          </a:prstGeom>
          <a:noFill/>
          <a:ln/>
        </p:spPr>
        <p:txBody>
          <a:bodyPr wrap="square" lIns="0" tIns="0" rIns="0" bIns="0" rtlCol="0" anchor="ctr"/>
          <a:lstStyle/>
          <a:p>
            <a:pPr marL="0" indent="0" algn="l">
              <a:buNone/>
            </a:pPr>
            <a:r>
              <a:rPr lang="en-US" sz="2800" b="1" dirty="0">
                <a:solidFill>
                  <a:srgbClr val="1B2A30"/>
                </a:solidFill>
                <a:latin typeface="Cambria" pitchFamily="34" charset="0"/>
                <a:ea typeface="Cambria" pitchFamily="34" charset="-122"/>
                <a:cs typeface="Cambria" pitchFamily="34" charset="-120"/>
              </a:rPr>
              <a:t>Kriging y Proceso Gaussiano: </a:t>
            </a:r>
            <a:r>
              <a:rPr lang="en-US" sz="2800" b="1" dirty="0" err="1">
                <a:solidFill>
                  <a:srgbClr val="1B2A30"/>
                </a:solidFill>
                <a:latin typeface="Cambria" pitchFamily="34" charset="0"/>
                <a:ea typeface="Cambria" pitchFamily="34" charset="-122"/>
                <a:cs typeface="Cambria" pitchFamily="34" charset="-120"/>
              </a:rPr>
              <a:t>Equivalencia</a:t>
            </a:r>
            <a:endParaRPr lang="en-US" sz="2800" dirty="0"/>
          </a:p>
        </p:txBody>
      </p:sp>
      <p:pic>
        <p:nvPicPr>
          <p:cNvPr id="5" name="Image 0" descr="slides_img/reconciliacion.png"/>
          <p:cNvPicPr>
            <a:picLocks noChangeAspect="1"/>
          </p:cNvPicPr>
          <p:nvPr/>
        </p:nvPicPr>
        <p:blipFill>
          <a:blip r:embed="rId3"/>
          <a:stretch>
            <a:fillRect/>
          </a:stretch>
        </p:blipFill>
        <p:spPr>
          <a:xfrm>
            <a:off x="647395" y="1463040"/>
            <a:ext cx="7209130" cy="4937760"/>
          </a:xfrm>
          <a:prstGeom prst="rect">
            <a:avLst/>
          </a:prstGeom>
          <a:effectLst>
            <a:outerShdw blurRad="76200" dist="25400" dir="5400000" algn="bl" rotWithShape="0">
              <a:srgbClr val="7A8A8A">
                <a:alpha val="35000"/>
              </a:srgbClr>
            </a:outerShdw>
          </a:effectLst>
        </p:spPr>
      </p:pic>
      <p:sp>
        <p:nvSpPr>
          <p:cNvPr id="6" name="Shape 3"/>
          <p:cNvSpPr/>
          <p:nvPr/>
        </p:nvSpPr>
        <p:spPr>
          <a:xfrm>
            <a:off x="8321040" y="1600200"/>
            <a:ext cx="3383280" cy="1371600"/>
          </a:xfrm>
          <a:prstGeom prst="roundRect">
            <a:avLst>
              <a:gd name="adj" fmla="val 5333"/>
            </a:avLst>
          </a:prstGeom>
          <a:solidFill>
            <a:srgbClr val="FFFFFF"/>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7" name="Text 4"/>
          <p:cNvSpPr/>
          <p:nvPr/>
        </p:nvSpPr>
        <p:spPr>
          <a:xfrm>
            <a:off x="8412480" y="1709928"/>
            <a:ext cx="3200400" cy="685800"/>
          </a:xfrm>
          <a:prstGeom prst="rect">
            <a:avLst/>
          </a:prstGeom>
          <a:noFill/>
          <a:ln/>
        </p:spPr>
        <p:txBody>
          <a:bodyPr wrap="square" lIns="0" tIns="0" rIns="0" bIns="0" rtlCol="0" anchor="ctr"/>
          <a:lstStyle/>
          <a:p>
            <a:pPr marL="0" indent="0" algn="ctr">
              <a:buNone/>
            </a:pPr>
            <a:r>
              <a:rPr lang="en-US" sz="3400" b="1" dirty="0">
                <a:solidFill>
                  <a:srgbClr val="D99A4E"/>
                </a:solidFill>
                <a:latin typeface="Cambria" pitchFamily="34" charset="0"/>
                <a:ea typeface="Cambria" pitchFamily="34" charset="-122"/>
                <a:cs typeface="Cambria" pitchFamily="34" charset="-120"/>
              </a:rPr>
              <a:t>r = 0.996</a:t>
            </a:r>
            <a:endParaRPr lang="en-US" sz="3400" dirty="0"/>
          </a:p>
        </p:txBody>
      </p:sp>
      <p:sp>
        <p:nvSpPr>
          <p:cNvPr id="8" name="Text 5"/>
          <p:cNvSpPr/>
          <p:nvPr/>
        </p:nvSpPr>
        <p:spPr>
          <a:xfrm>
            <a:off x="8430768" y="2404872"/>
            <a:ext cx="3163824" cy="457200"/>
          </a:xfrm>
          <a:prstGeom prst="rect">
            <a:avLst/>
          </a:prstGeom>
          <a:noFill/>
          <a:ln/>
        </p:spPr>
        <p:txBody>
          <a:bodyPr wrap="square" lIns="0" tIns="0" rIns="0" bIns="0" rtlCol="0" anchor="t"/>
          <a:lstStyle/>
          <a:p>
            <a:pPr marL="0" indent="0" algn="ctr">
              <a:buNone/>
            </a:pPr>
            <a:r>
              <a:rPr lang="en-US" sz="1250" dirty="0">
                <a:solidFill>
                  <a:srgbClr val="5F6E73"/>
                </a:solidFill>
                <a:latin typeface="Calibri" pitchFamily="34" charset="0"/>
                <a:ea typeface="Calibri" pitchFamily="34" charset="-122"/>
                <a:cs typeface="Calibri" pitchFamily="34" charset="-120"/>
              </a:rPr>
              <a:t>GPR con kernel del variograma ≈ Kriging</a:t>
            </a:r>
            <a:endParaRPr lang="en-US" sz="1250" dirty="0"/>
          </a:p>
        </p:txBody>
      </p:sp>
      <p:sp>
        <p:nvSpPr>
          <p:cNvPr id="9" name="Shape 6"/>
          <p:cNvSpPr/>
          <p:nvPr/>
        </p:nvSpPr>
        <p:spPr>
          <a:xfrm>
            <a:off x="8321040" y="3200400"/>
            <a:ext cx="3383280" cy="1371600"/>
          </a:xfrm>
          <a:prstGeom prst="roundRect">
            <a:avLst>
              <a:gd name="adj" fmla="val 2388"/>
            </a:avLst>
          </a:prstGeom>
          <a:solidFill>
            <a:srgbClr val="EEF3F3"/>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10" name="Text 7"/>
          <p:cNvSpPr/>
          <p:nvPr/>
        </p:nvSpPr>
        <p:spPr>
          <a:xfrm>
            <a:off x="8522208" y="3337560"/>
            <a:ext cx="3017520" cy="411480"/>
          </a:xfrm>
          <a:prstGeom prst="rect">
            <a:avLst/>
          </a:prstGeom>
          <a:noFill/>
          <a:ln/>
        </p:spPr>
        <p:txBody>
          <a:bodyPr wrap="square" lIns="0" tIns="0" rIns="0" bIns="0" rtlCol="0" anchor="ctr"/>
          <a:lstStyle/>
          <a:p>
            <a:pPr marL="0" indent="0">
              <a:buNone/>
            </a:pPr>
            <a:r>
              <a:rPr lang="en-US" sz="1600" b="1" dirty="0" err="1">
                <a:solidFill>
                  <a:srgbClr val="1F6E68"/>
                </a:solidFill>
                <a:latin typeface="Cambria" pitchFamily="34" charset="0"/>
                <a:ea typeface="Cambria" pitchFamily="34" charset="-122"/>
                <a:cs typeface="Cambria" pitchFamily="34" charset="-120"/>
              </a:rPr>
              <a:t>Equivalencia</a:t>
            </a:r>
            <a:r>
              <a:rPr lang="en-US" sz="1600" b="1" dirty="0">
                <a:solidFill>
                  <a:srgbClr val="1F6E68"/>
                </a:solidFill>
                <a:latin typeface="Cambria" pitchFamily="34" charset="0"/>
                <a:ea typeface="Cambria" pitchFamily="34" charset="-122"/>
                <a:cs typeface="Cambria" pitchFamily="34" charset="-120"/>
              </a:rPr>
              <a:t> formal</a:t>
            </a:r>
            <a:endParaRPr lang="en-US" sz="1600" dirty="0"/>
          </a:p>
        </p:txBody>
      </p:sp>
      <p:sp>
        <p:nvSpPr>
          <p:cNvPr id="11" name="Text 8"/>
          <p:cNvSpPr/>
          <p:nvPr/>
        </p:nvSpPr>
        <p:spPr>
          <a:xfrm>
            <a:off x="8522208" y="3794760"/>
            <a:ext cx="3017520" cy="2286000"/>
          </a:xfrm>
          <a:prstGeom prst="rect">
            <a:avLst/>
          </a:prstGeom>
          <a:noFill/>
          <a:ln/>
        </p:spPr>
        <p:txBody>
          <a:bodyPr wrap="square" lIns="0" tIns="0" rIns="0" bIns="0" rtlCol="0" anchor="t"/>
          <a:lstStyle/>
          <a:p>
            <a:pPr marL="0" indent="0">
              <a:lnSpc>
                <a:spcPts val="1600"/>
              </a:lnSpc>
              <a:buNone/>
            </a:pPr>
            <a:r>
              <a:rPr lang="en-US" sz="1250" dirty="0">
                <a:solidFill>
                  <a:srgbClr val="5F6E73"/>
                </a:solidFill>
                <a:latin typeface="Calibri" pitchFamily="34" charset="0"/>
                <a:ea typeface="Calibri" pitchFamily="34" charset="-122"/>
                <a:cs typeface="Calibri" pitchFamily="34" charset="-120"/>
              </a:rPr>
              <a:t>La diferencia visual previa </a:t>
            </a:r>
            <a:r>
              <a:rPr lang="en-US" sz="1250" dirty="0" err="1">
                <a:solidFill>
                  <a:srgbClr val="5F6E73"/>
                </a:solidFill>
                <a:latin typeface="Calibri" pitchFamily="34" charset="0"/>
                <a:ea typeface="Calibri" pitchFamily="34" charset="-122"/>
                <a:cs typeface="Calibri" pitchFamily="34" charset="-120"/>
              </a:rPr>
              <a:t>venía</a:t>
            </a:r>
            <a:r>
              <a:rPr lang="en-US" sz="1250" dirty="0">
                <a:solidFill>
                  <a:srgbClr val="5F6E73"/>
                </a:solidFill>
                <a:latin typeface="Calibri" pitchFamily="34" charset="0"/>
                <a:ea typeface="Calibri" pitchFamily="34" charset="-122"/>
                <a:cs typeface="Calibri" pitchFamily="34" charset="-120"/>
              </a:rPr>
              <a:t> de los hiperparámetros: al fijar la covarianza del variograma, el GPR reproduce el kriging.</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75488"/>
            <a:ext cx="475488" cy="475488"/>
          </a:xfrm>
          <a:prstGeom prst="ellipse">
            <a:avLst/>
          </a:prstGeom>
          <a:solidFill>
            <a:srgbClr val="2E8C86"/>
          </a:solidFill>
          <a:ln/>
        </p:spPr>
        <p:txBody>
          <a:bodyPr/>
          <a:lstStyle/>
          <a:p>
            <a:endParaRPr lang="es-CO"/>
          </a:p>
        </p:txBody>
      </p:sp>
      <p:sp>
        <p:nvSpPr>
          <p:cNvPr id="3" name="Text 1"/>
          <p:cNvSpPr/>
          <p:nvPr/>
        </p:nvSpPr>
        <p:spPr>
          <a:xfrm>
            <a:off x="502920" y="47548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4" name="Text 2"/>
          <p:cNvSpPr/>
          <p:nvPr/>
        </p:nvSpPr>
        <p:spPr>
          <a:xfrm>
            <a:off x="1143000" y="411480"/>
            <a:ext cx="10424160" cy="621792"/>
          </a:xfrm>
          <a:prstGeom prst="rect">
            <a:avLst/>
          </a:prstGeom>
          <a:noFill/>
          <a:ln/>
        </p:spPr>
        <p:txBody>
          <a:bodyPr wrap="square" lIns="0" tIns="0" rIns="0" bIns="0" rtlCol="0" anchor="ctr"/>
          <a:lstStyle/>
          <a:p>
            <a:pPr marL="0" indent="0" algn="l">
              <a:buNone/>
            </a:pPr>
            <a:r>
              <a:rPr lang="en-US" sz="2800" b="1" dirty="0">
                <a:solidFill>
                  <a:srgbClr val="1B2A30"/>
                </a:solidFill>
                <a:latin typeface="Cambria" pitchFamily="34" charset="0"/>
                <a:ea typeface="Cambria" pitchFamily="34" charset="-122"/>
                <a:cs typeface="Cambria" pitchFamily="34" charset="-120"/>
              </a:rPr>
              <a:t>Integración geológica y estructural</a:t>
            </a:r>
            <a:endParaRPr lang="en-US" sz="2800" dirty="0"/>
          </a:p>
        </p:txBody>
      </p:sp>
      <p:sp>
        <p:nvSpPr>
          <p:cNvPr id="7" name="Shape 3"/>
          <p:cNvSpPr/>
          <p:nvPr/>
        </p:nvSpPr>
        <p:spPr>
          <a:xfrm>
            <a:off x="457200" y="5486400"/>
            <a:ext cx="11292840" cy="1005840"/>
          </a:xfrm>
          <a:prstGeom prst="roundRect">
            <a:avLst>
              <a:gd name="adj" fmla="val 7273"/>
            </a:avLst>
          </a:prstGeom>
          <a:solidFill>
            <a:srgbClr val="12333D"/>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8" name="Text 4"/>
          <p:cNvSpPr/>
          <p:nvPr/>
        </p:nvSpPr>
        <p:spPr>
          <a:xfrm>
            <a:off x="731520" y="5486400"/>
            <a:ext cx="10789920" cy="1005840"/>
          </a:xfrm>
          <a:prstGeom prst="rect">
            <a:avLst/>
          </a:prstGeom>
          <a:noFill/>
          <a:ln/>
        </p:spPr>
        <p:txBody>
          <a:bodyPr wrap="square" lIns="0" tIns="0" rIns="0" bIns="0" rtlCol="0" anchor="ctr"/>
          <a:lstStyle/>
          <a:p>
            <a:pPr marL="0" indent="0">
              <a:lnSpc>
                <a:spcPts val="1700"/>
              </a:lnSpc>
              <a:buNone/>
            </a:pPr>
            <a:r>
              <a:rPr lang="en-US" sz="1300" b="1" dirty="0">
                <a:solidFill>
                  <a:srgbClr val="D99A4E"/>
                </a:solidFill>
                <a:latin typeface="Calibri" pitchFamily="34" charset="0"/>
                <a:ea typeface="Calibri" pitchFamily="34" charset="-122"/>
                <a:cs typeface="Calibri" pitchFamily="34" charset="-120"/>
              </a:rPr>
              <a:t>Control litológico: </a:t>
            </a:r>
            <a:r>
              <a:rPr lang="en-US" sz="1300" dirty="0">
                <a:solidFill>
                  <a:srgbClr val="FFFFFF"/>
                </a:solidFill>
                <a:latin typeface="Calibri" pitchFamily="34" charset="0"/>
                <a:ea typeface="Calibri" pitchFamily="34" charset="-122"/>
                <a:cs typeface="Calibri" pitchFamily="34" charset="-120"/>
              </a:rPr>
              <a:t>el Ni alto se concentra en las secuencias vulcanosedimentarias del Grupo Cañasgordas y en las volcánicas máficas (procedencia del arco Barroso); es mínimo en los batolitos félsicos. La orientación N-S del dominio máfico coincide con las fallas Cauca-Romeral y con la anisotropía geoestadística.</a:t>
            </a:r>
            <a:endParaRPr lang="en-US" sz="1300" dirty="0"/>
          </a:p>
        </p:txBody>
      </p:sp>
      <p:pic>
        <p:nvPicPr>
          <p:cNvPr id="9" name="Imagen 8">
            <a:extLst>
              <a:ext uri="{FF2B5EF4-FFF2-40B4-BE49-F238E27FC236}">
                <a16:creationId xmlns:a16="http://schemas.microsoft.com/office/drawing/2014/main" id="{96C8FA8C-18A6-6BED-FAD2-AB2CDC4554AC}"/>
              </a:ext>
            </a:extLst>
          </p:cNvPr>
          <p:cNvPicPr>
            <a:picLocks noChangeAspect="1"/>
          </p:cNvPicPr>
          <p:nvPr/>
        </p:nvPicPr>
        <p:blipFill>
          <a:blip r:embed="rId3"/>
          <a:stretch>
            <a:fillRect/>
          </a:stretch>
        </p:blipFill>
        <p:spPr>
          <a:xfrm>
            <a:off x="1122366" y="1417320"/>
            <a:ext cx="4309201" cy="3931200"/>
          </a:xfrm>
          <a:prstGeom prst="rect">
            <a:avLst/>
          </a:prstGeom>
        </p:spPr>
      </p:pic>
      <p:pic>
        <p:nvPicPr>
          <p:cNvPr id="10" name="Imagen 9">
            <a:extLst>
              <a:ext uri="{FF2B5EF4-FFF2-40B4-BE49-F238E27FC236}">
                <a16:creationId xmlns:a16="http://schemas.microsoft.com/office/drawing/2014/main" id="{E1D9E63E-9E99-ECF9-30AC-B8937124009C}"/>
              </a:ext>
            </a:extLst>
          </p:cNvPr>
          <p:cNvPicPr>
            <a:picLocks noChangeAspect="1"/>
          </p:cNvPicPr>
          <p:nvPr/>
        </p:nvPicPr>
        <p:blipFill>
          <a:blip r:embed="rId4"/>
          <a:stretch>
            <a:fillRect/>
          </a:stretch>
        </p:blipFill>
        <p:spPr>
          <a:xfrm>
            <a:off x="6096000" y="1417320"/>
            <a:ext cx="4309531" cy="3931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A7AFE5D-2D48-DD43-67BE-F116B0397E6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BF06EF-090D-7ABE-707C-0F2EFBB146B8}"/>
              </a:ext>
            </a:extLst>
          </p:cNvPr>
          <p:cNvSpPr/>
          <p:nvPr/>
        </p:nvSpPr>
        <p:spPr>
          <a:xfrm>
            <a:off x="502920" y="475488"/>
            <a:ext cx="475488" cy="475488"/>
          </a:xfrm>
          <a:prstGeom prst="ellipse">
            <a:avLst/>
          </a:prstGeom>
          <a:solidFill>
            <a:srgbClr val="2E8C86"/>
          </a:solidFill>
          <a:ln/>
        </p:spPr>
        <p:txBody>
          <a:bodyPr/>
          <a:lstStyle/>
          <a:p>
            <a:endParaRPr lang="es-CO"/>
          </a:p>
        </p:txBody>
      </p:sp>
      <p:sp>
        <p:nvSpPr>
          <p:cNvPr id="3" name="Text 1">
            <a:extLst>
              <a:ext uri="{FF2B5EF4-FFF2-40B4-BE49-F238E27FC236}">
                <a16:creationId xmlns:a16="http://schemas.microsoft.com/office/drawing/2014/main" id="{9320278C-E9CE-232D-DBA7-1D70F7030CA9}"/>
              </a:ext>
            </a:extLst>
          </p:cNvPr>
          <p:cNvSpPr/>
          <p:nvPr/>
        </p:nvSpPr>
        <p:spPr>
          <a:xfrm>
            <a:off x="502920" y="47548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4" name="Text 2">
            <a:extLst>
              <a:ext uri="{FF2B5EF4-FFF2-40B4-BE49-F238E27FC236}">
                <a16:creationId xmlns:a16="http://schemas.microsoft.com/office/drawing/2014/main" id="{984D7D8A-D4C9-B34A-CFCB-A4E1CB5E5CA9}"/>
              </a:ext>
            </a:extLst>
          </p:cNvPr>
          <p:cNvSpPr/>
          <p:nvPr/>
        </p:nvSpPr>
        <p:spPr>
          <a:xfrm>
            <a:off x="1143000" y="411480"/>
            <a:ext cx="10424160" cy="621792"/>
          </a:xfrm>
          <a:prstGeom prst="rect">
            <a:avLst/>
          </a:prstGeom>
          <a:noFill/>
          <a:ln/>
        </p:spPr>
        <p:txBody>
          <a:bodyPr wrap="square" lIns="0" tIns="0" rIns="0" bIns="0" rtlCol="0" anchor="ctr"/>
          <a:lstStyle/>
          <a:p>
            <a:pPr marL="0" indent="0" algn="l">
              <a:buNone/>
            </a:pPr>
            <a:r>
              <a:rPr lang="en-US" sz="2800" b="1" dirty="0">
                <a:solidFill>
                  <a:srgbClr val="1B2A30"/>
                </a:solidFill>
                <a:latin typeface="Cambria" pitchFamily="34" charset="0"/>
                <a:ea typeface="Cambria" pitchFamily="34" charset="-122"/>
                <a:cs typeface="Cambria" pitchFamily="34" charset="-120"/>
              </a:rPr>
              <a:t>Integración geológica y estructural</a:t>
            </a:r>
            <a:endParaRPr lang="en-US" sz="2800" dirty="0"/>
          </a:p>
        </p:txBody>
      </p:sp>
      <p:sp>
        <p:nvSpPr>
          <p:cNvPr id="7" name="Shape 3">
            <a:extLst>
              <a:ext uri="{FF2B5EF4-FFF2-40B4-BE49-F238E27FC236}">
                <a16:creationId xmlns:a16="http://schemas.microsoft.com/office/drawing/2014/main" id="{45F9A726-2046-C046-F16C-05312F7B03D6}"/>
              </a:ext>
            </a:extLst>
          </p:cNvPr>
          <p:cNvSpPr/>
          <p:nvPr/>
        </p:nvSpPr>
        <p:spPr>
          <a:xfrm>
            <a:off x="457200" y="5486400"/>
            <a:ext cx="11292840" cy="1005840"/>
          </a:xfrm>
          <a:prstGeom prst="roundRect">
            <a:avLst>
              <a:gd name="adj" fmla="val 7273"/>
            </a:avLst>
          </a:prstGeom>
          <a:solidFill>
            <a:srgbClr val="12333D"/>
          </a:solidFill>
          <a:ln w="12700">
            <a:solidFill>
              <a:srgbClr val="DBE4E4"/>
            </a:solidFill>
            <a:prstDash val="solid"/>
          </a:ln>
          <a:effectLst>
            <a:outerShdw blurRad="76200" dist="25400" dir="5400000" algn="bl" rotWithShape="0">
              <a:srgbClr val="7A8A8A">
                <a:alpha val="35000"/>
              </a:srgbClr>
            </a:outerShdw>
          </a:effectLst>
        </p:spPr>
        <p:txBody>
          <a:bodyPr/>
          <a:lstStyle/>
          <a:p>
            <a:endParaRPr lang="es-CO"/>
          </a:p>
        </p:txBody>
      </p:sp>
      <p:sp>
        <p:nvSpPr>
          <p:cNvPr id="8" name="Text 4">
            <a:extLst>
              <a:ext uri="{FF2B5EF4-FFF2-40B4-BE49-F238E27FC236}">
                <a16:creationId xmlns:a16="http://schemas.microsoft.com/office/drawing/2014/main" id="{6CF564E4-3F29-2B63-6E4D-7B995A8D8C42}"/>
              </a:ext>
            </a:extLst>
          </p:cNvPr>
          <p:cNvSpPr/>
          <p:nvPr/>
        </p:nvSpPr>
        <p:spPr>
          <a:xfrm>
            <a:off x="731520" y="5486400"/>
            <a:ext cx="10789920" cy="1005840"/>
          </a:xfrm>
          <a:prstGeom prst="rect">
            <a:avLst/>
          </a:prstGeom>
          <a:noFill/>
          <a:ln/>
        </p:spPr>
        <p:txBody>
          <a:bodyPr wrap="square" lIns="0" tIns="0" rIns="0" bIns="0" rtlCol="0" anchor="ctr"/>
          <a:lstStyle/>
          <a:p>
            <a:pPr marL="0" indent="0">
              <a:lnSpc>
                <a:spcPts val="1700"/>
              </a:lnSpc>
              <a:buNone/>
            </a:pPr>
            <a:r>
              <a:rPr lang="en-US" sz="1300" b="1" dirty="0">
                <a:solidFill>
                  <a:srgbClr val="D99A4E"/>
                </a:solidFill>
                <a:latin typeface="Calibri" pitchFamily="34" charset="0"/>
                <a:ea typeface="Calibri" pitchFamily="34" charset="-122"/>
                <a:cs typeface="Calibri" pitchFamily="34" charset="-120"/>
              </a:rPr>
              <a:t>Control litológico: </a:t>
            </a:r>
            <a:r>
              <a:rPr lang="en-US" sz="1300" dirty="0">
                <a:solidFill>
                  <a:srgbClr val="FFFFFF"/>
                </a:solidFill>
                <a:latin typeface="Calibri" pitchFamily="34" charset="0"/>
                <a:ea typeface="Calibri" pitchFamily="34" charset="-122"/>
                <a:cs typeface="Calibri" pitchFamily="34" charset="-120"/>
              </a:rPr>
              <a:t>el Ni alto se concentra en las secuencias vulcanosedimentarias del Grupo Cañasgordas y en las volcánicas máficas (procedencia del arco Barroso); es mínimo en los batolitos félsicos. La orientación N-S del dominio máfico coincide con las fallas Cauca-Romeral y con la anisotropía geoestadística.</a:t>
            </a:r>
            <a:endParaRPr lang="en-US" sz="1300" dirty="0"/>
          </a:p>
        </p:txBody>
      </p:sp>
      <p:pic>
        <p:nvPicPr>
          <p:cNvPr id="5" name="Imagen 4">
            <a:extLst>
              <a:ext uri="{FF2B5EF4-FFF2-40B4-BE49-F238E27FC236}">
                <a16:creationId xmlns:a16="http://schemas.microsoft.com/office/drawing/2014/main" id="{D4F31D9F-ECC5-71E2-401B-618F96D4329C}"/>
              </a:ext>
            </a:extLst>
          </p:cNvPr>
          <p:cNvPicPr>
            <a:picLocks noChangeAspect="1"/>
          </p:cNvPicPr>
          <p:nvPr/>
        </p:nvPicPr>
        <p:blipFill>
          <a:blip r:embed="rId3"/>
          <a:stretch>
            <a:fillRect/>
          </a:stretch>
        </p:blipFill>
        <p:spPr>
          <a:xfrm>
            <a:off x="1317171" y="1591474"/>
            <a:ext cx="9143999" cy="3336723"/>
          </a:xfrm>
          <a:prstGeom prst="rect">
            <a:avLst/>
          </a:prstGeom>
        </p:spPr>
      </p:pic>
    </p:spTree>
    <p:extLst>
      <p:ext uri="{BB962C8B-B14F-4D97-AF65-F5344CB8AC3E}">
        <p14:creationId xmlns:p14="http://schemas.microsoft.com/office/powerpoint/2010/main" val="2861696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2333D"/>
        </a:solidFill>
        <a:effectLst/>
      </p:bgPr>
    </p:bg>
    <p:spTree>
      <p:nvGrpSpPr>
        <p:cNvPr id="1" name=""/>
        <p:cNvGrpSpPr/>
        <p:nvPr/>
      </p:nvGrpSpPr>
      <p:grpSpPr>
        <a:xfrm>
          <a:off x="0" y="0"/>
          <a:ext cx="0" cy="0"/>
          <a:chOff x="0" y="0"/>
          <a:chExt cx="0" cy="0"/>
        </a:xfrm>
      </p:grpSpPr>
      <p:sp>
        <p:nvSpPr>
          <p:cNvPr id="2" name="Shape 0"/>
          <p:cNvSpPr/>
          <p:nvPr/>
        </p:nvSpPr>
        <p:spPr>
          <a:xfrm>
            <a:off x="-1463040" y="4572000"/>
            <a:ext cx="3840480" cy="3840480"/>
          </a:xfrm>
          <a:prstGeom prst="ellipse">
            <a:avLst/>
          </a:prstGeom>
          <a:solidFill>
            <a:srgbClr val="1F6E68">
              <a:alpha val="28000"/>
            </a:srgbClr>
          </a:solidFill>
          <a:ln/>
        </p:spPr>
        <p:txBody>
          <a:bodyPr/>
          <a:lstStyle/>
          <a:p>
            <a:endParaRPr lang="es-CO"/>
          </a:p>
        </p:txBody>
      </p:sp>
      <p:sp>
        <p:nvSpPr>
          <p:cNvPr id="3" name="Shape 1"/>
          <p:cNvSpPr/>
          <p:nvPr/>
        </p:nvSpPr>
        <p:spPr>
          <a:xfrm>
            <a:off x="502920" y="475488"/>
            <a:ext cx="475488" cy="475488"/>
          </a:xfrm>
          <a:prstGeom prst="ellipse">
            <a:avLst/>
          </a:prstGeom>
          <a:solidFill>
            <a:srgbClr val="2E8C86"/>
          </a:solidFill>
          <a:ln/>
        </p:spPr>
        <p:txBody>
          <a:bodyPr/>
          <a:lstStyle/>
          <a:p>
            <a:endParaRPr lang="es-CO"/>
          </a:p>
        </p:txBody>
      </p:sp>
      <p:sp>
        <p:nvSpPr>
          <p:cNvPr id="4" name="Text 2"/>
          <p:cNvSpPr/>
          <p:nvPr/>
        </p:nvSpPr>
        <p:spPr>
          <a:xfrm>
            <a:off x="502920" y="475488"/>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10</a:t>
            </a:r>
            <a:endParaRPr lang="en-US" sz="2000" dirty="0"/>
          </a:p>
        </p:txBody>
      </p:sp>
      <p:sp>
        <p:nvSpPr>
          <p:cNvPr id="5" name="Text 3"/>
          <p:cNvSpPr/>
          <p:nvPr/>
        </p:nvSpPr>
        <p:spPr>
          <a:xfrm>
            <a:off x="1143000" y="411480"/>
            <a:ext cx="10424160" cy="62179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Próximos pasos</a:t>
            </a:r>
            <a:endParaRPr lang="en-US" sz="2800" dirty="0"/>
          </a:p>
        </p:txBody>
      </p:sp>
      <p:sp>
        <p:nvSpPr>
          <p:cNvPr id="6" name="Shape 4"/>
          <p:cNvSpPr/>
          <p:nvPr/>
        </p:nvSpPr>
        <p:spPr>
          <a:xfrm>
            <a:off x="640080" y="1527048"/>
            <a:ext cx="457200" cy="457200"/>
          </a:xfrm>
          <a:prstGeom prst="ellipse">
            <a:avLst/>
          </a:prstGeom>
          <a:solidFill>
            <a:srgbClr val="2E8C86"/>
          </a:solidFill>
          <a:ln/>
        </p:spPr>
        <p:txBody>
          <a:bodyPr/>
          <a:lstStyle/>
          <a:p>
            <a:endParaRPr lang="es-CO"/>
          </a:p>
        </p:txBody>
      </p:sp>
      <p:sp>
        <p:nvSpPr>
          <p:cNvPr id="7" name="Text 5"/>
          <p:cNvSpPr/>
          <p:nvPr/>
        </p:nvSpPr>
        <p:spPr>
          <a:xfrm>
            <a:off x="640080" y="152704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280160" y="1417320"/>
            <a:ext cx="10332720" cy="777240"/>
          </a:xfrm>
          <a:prstGeom prst="rect">
            <a:avLst/>
          </a:prstGeom>
          <a:noFill/>
          <a:ln/>
        </p:spPr>
        <p:txBody>
          <a:bodyPr wrap="square" lIns="0" tIns="0" rIns="0" bIns="0" rtlCol="0" anchor="ctr"/>
          <a:lstStyle/>
          <a:p>
            <a:pPr marL="0" indent="0">
              <a:lnSpc>
                <a:spcPts val="1700"/>
              </a:lnSpc>
              <a:buNone/>
            </a:pPr>
            <a:r>
              <a:rPr lang="en-US" sz="1500" b="1" dirty="0" err="1">
                <a:solidFill>
                  <a:srgbClr val="D99A4E"/>
                </a:solidFill>
                <a:latin typeface="Calibri" pitchFamily="34" charset="0"/>
                <a:ea typeface="Calibri" pitchFamily="34" charset="-122"/>
                <a:cs typeface="Calibri" pitchFamily="34" charset="-120"/>
              </a:rPr>
              <a:t>Cálculo</a:t>
            </a:r>
            <a:r>
              <a:rPr lang="en-US" sz="1500" b="1" dirty="0">
                <a:solidFill>
                  <a:srgbClr val="D99A4E"/>
                </a:solidFill>
                <a:latin typeface="Calibri" pitchFamily="34" charset="0"/>
                <a:ea typeface="Calibri" pitchFamily="34" charset="-122"/>
                <a:cs typeface="Calibri" pitchFamily="34" charset="-120"/>
              </a:rPr>
              <a:t> de valor de </a:t>
            </a:r>
            <a:r>
              <a:rPr lang="en-US" sz="1500" b="1" dirty="0" err="1">
                <a:solidFill>
                  <a:srgbClr val="D99A4E"/>
                </a:solidFill>
                <a:latin typeface="Calibri" pitchFamily="34" charset="0"/>
                <a:ea typeface="Calibri" pitchFamily="34" charset="-122"/>
                <a:cs typeface="Calibri" pitchFamily="34" charset="-120"/>
              </a:rPr>
              <a:t>fondo</a:t>
            </a:r>
            <a:r>
              <a:rPr lang="en-US" sz="1500" b="1" dirty="0">
                <a:solidFill>
                  <a:srgbClr val="D99A4E"/>
                </a:solidFill>
                <a:latin typeface="Calibri" pitchFamily="34" charset="0"/>
                <a:ea typeface="Calibri" pitchFamily="34" charset="-122"/>
                <a:cs typeface="Calibri" pitchFamily="34" charset="-120"/>
              </a:rPr>
              <a:t>.  </a:t>
            </a:r>
            <a:r>
              <a:rPr lang="en-US" sz="1350" dirty="0" err="1">
                <a:solidFill>
                  <a:srgbClr val="E8EFEF"/>
                </a:solidFill>
                <a:latin typeface="Calibri" pitchFamily="34" charset="0"/>
                <a:ea typeface="Calibri" pitchFamily="34" charset="-122"/>
                <a:cs typeface="Calibri" pitchFamily="34" charset="-120"/>
              </a:rPr>
              <a:t>Cuantas</a:t>
            </a:r>
            <a:r>
              <a:rPr lang="en-US" sz="1350" dirty="0">
                <a:solidFill>
                  <a:srgbClr val="E8EFEF"/>
                </a:solidFill>
                <a:latin typeface="Calibri" pitchFamily="34" charset="0"/>
                <a:ea typeface="Calibri" pitchFamily="34" charset="-122"/>
                <a:cs typeface="Calibri" pitchFamily="34" charset="-120"/>
              </a:rPr>
              <a:t> </a:t>
            </a:r>
            <a:r>
              <a:rPr lang="en-US" sz="1350" dirty="0" err="1">
                <a:solidFill>
                  <a:srgbClr val="E8EFEF"/>
                </a:solidFill>
                <a:latin typeface="Calibri" pitchFamily="34" charset="0"/>
                <a:ea typeface="Calibri" pitchFamily="34" charset="-122"/>
                <a:cs typeface="Calibri" pitchFamily="34" charset="-120"/>
              </a:rPr>
              <a:t>veces</a:t>
            </a:r>
            <a:r>
              <a:rPr lang="en-US" sz="1350" dirty="0">
                <a:solidFill>
                  <a:srgbClr val="E8EFEF"/>
                </a:solidFill>
                <a:latin typeface="Calibri" pitchFamily="34" charset="0"/>
                <a:ea typeface="Calibri" pitchFamily="34" charset="-122"/>
                <a:cs typeface="Calibri" pitchFamily="34" charset="-120"/>
              </a:rPr>
              <a:t> </a:t>
            </a:r>
            <a:r>
              <a:rPr lang="en-US" sz="1350" dirty="0" err="1">
                <a:solidFill>
                  <a:srgbClr val="E8EFEF"/>
                </a:solidFill>
                <a:latin typeface="Calibri" pitchFamily="34" charset="0"/>
                <a:ea typeface="Calibri" pitchFamily="34" charset="-122"/>
                <a:cs typeface="Calibri" pitchFamily="34" charset="-120"/>
              </a:rPr>
              <a:t>está</a:t>
            </a:r>
            <a:r>
              <a:rPr lang="en-US" sz="1350" dirty="0">
                <a:solidFill>
                  <a:srgbClr val="E8EFEF"/>
                </a:solidFill>
                <a:latin typeface="Calibri" pitchFamily="34" charset="0"/>
                <a:ea typeface="Calibri" pitchFamily="34" charset="-122"/>
                <a:cs typeface="Calibri" pitchFamily="34" charset="-120"/>
              </a:rPr>
              <a:t> la </a:t>
            </a:r>
            <a:r>
              <a:rPr lang="en-US" sz="1350" dirty="0" err="1">
                <a:solidFill>
                  <a:srgbClr val="E8EFEF"/>
                </a:solidFill>
                <a:latin typeface="Calibri" pitchFamily="34" charset="0"/>
                <a:ea typeface="Calibri" pitchFamily="34" charset="-122"/>
                <a:cs typeface="Calibri" pitchFamily="34" charset="-120"/>
              </a:rPr>
              <a:t>anomalía</a:t>
            </a:r>
            <a:r>
              <a:rPr lang="en-US" sz="1350" dirty="0">
                <a:solidFill>
                  <a:srgbClr val="E8EFEF"/>
                </a:solidFill>
                <a:latin typeface="Calibri" pitchFamily="34" charset="0"/>
                <a:ea typeface="Calibri" pitchFamily="34" charset="-122"/>
                <a:cs typeface="Calibri" pitchFamily="34" charset="-120"/>
              </a:rPr>
              <a:t> </a:t>
            </a:r>
            <a:r>
              <a:rPr lang="en-US" sz="1350" dirty="0" err="1">
                <a:solidFill>
                  <a:srgbClr val="E8EFEF"/>
                </a:solidFill>
                <a:latin typeface="Calibri" pitchFamily="34" charset="0"/>
                <a:ea typeface="Calibri" pitchFamily="34" charset="-122"/>
                <a:cs typeface="Calibri" pitchFamily="34" charset="-120"/>
              </a:rPr>
              <a:t>por</a:t>
            </a:r>
            <a:r>
              <a:rPr lang="en-US" sz="1350" dirty="0">
                <a:solidFill>
                  <a:srgbClr val="E8EFEF"/>
                </a:solidFill>
                <a:latin typeface="Calibri" pitchFamily="34" charset="0"/>
                <a:ea typeface="Calibri" pitchFamily="34" charset="-122"/>
                <a:cs typeface="Calibri" pitchFamily="34" charset="-120"/>
              </a:rPr>
              <a:t> </a:t>
            </a:r>
            <a:r>
              <a:rPr lang="en-US" sz="1350" dirty="0" err="1">
                <a:solidFill>
                  <a:srgbClr val="E8EFEF"/>
                </a:solidFill>
                <a:latin typeface="Calibri" pitchFamily="34" charset="0"/>
                <a:ea typeface="Calibri" pitchFamily="34" charset="-122"/>
                <a:cs typeface="Calibri" pitchFamily="34" charset="-120"/>
              </a:rPr>
              <a:t>encima</a:t>
            </a:r>
            <a:r>
              <a:rPr lang="en-US" sz="1350" dirty="0">
                <a:solidFill>
                  <a:srgbClr val="E8EFEF"/>
                </a:solidFill>
                <a:latin typeface="Calibri" pitchFamily="34" charset="0"/>
                <a:ea typeface="Calibri" pitchFamily="34" charset="-122"/>
                <a:cs typeface="Calibri" pitchFamily="34" charset="-120"/>
              </a:rPr>
              <a:t> del valor </a:t>
            </a:r>
            <a:r>
              <a:rPr lang="en-US" sz="1350" dirty="0" err="1">
                <a:solidFill>
                  <a:srgbClr val="E8EFEF"/>
                </a:solidFill>
                <a:latin typeface="Calibri" pitchFamily="34" charset="0"/>
                <a:ea typeface="Calibri" pitchFamily="34" charset="-122"/>
                <a:cs typeface="Calibri" pitchFamily="34" charset="-120"/>
              </a:rPr>
              <a:t>estandar</a:t>
            </a:r>
            <a:r>
              <a:rPr lang="en-US" sz="1350" dirty="0">
                <a:solidFill>
                  <a:srgbClr val="E8EFEF"/>
                </a:solidFill>
                <a:latin typeface="Calibri" pitchFamily="34" charset="0"/>
                <a:ea typeface="Calibri" pitchFamily="34" charset="-122"/>
                <a:cs typeface="Calibri" pitchFamily="34" charset="-120"/>
              </a:rPr>
              <a:t> de la </a:t>
            </a:r>
            <a:r>
              <a:rPr lang="en-US" sz="1350" dirty="0" err="1">
                <a:solidFill>
                  <a:srgbClr val="E8EFEF"/>
                </a:solidFill>
                <a:latin typeface="Calibri" pitchFamily="34" charset="0"/>
                <a:ea typeface="Calibri" pitchFamily="34" charset="-122"/>
                <a:cs typeface="Calibri" pitchFamily="34" charset="-120"/>
              </a:rPr>
              <a:t>roca</a:t>
            </a:r>
            <a:r>
              <a:rPr lang="en-US" sz="1350" dirty="0">
                <a:solidFill>
                  <a:srgbClr val="E8EFEF"/>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640080" y="2514600"/>
            <a:ext cx="457200" cy="457200"/>
          </a:xfrm>
          <a:prstGeom prst="ellipse">
            <a:avLst/>
          </a:prstGeom>
          <a:solidFill>
            <a:srgbClr val="2E8C86"/>
          </a:solidFill>
          <a:ln/>
        </p:spPr>
        <p:txBody>
          <a:bodyPr/>
          <a:lstStyle/>
          <a:p>
            <a:endParaRPr lang="es-CO"/>
          </a:p>
        </p:txBody>
      </p:sp>
      <p:sp>
        <p:nvSpPr>
          <p:cNvPr id="10" name="Text 8"/>
          <p:cNvSpPr/>
          <p:nvPr/>
        </p:nvSpPr>
        <p:spPr>
          <a:xfrm>
            <a:off x="640080" y="2514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280160" y="2404872"/>
            <a:ext cx="10332720" cy="777240"/>
          </a:xfrm>
          <a:prstGeom prst="rect">
            <a:avLst/>
          </a:prstGeom>
          <a:noFill/>
          <a:ln/>
        </p:spPr>
        <p:txBody>
          <a:bodyPr wrap="square" lIns="0" tIns="0" rIns="0" bIns="0" rtlCol="0" anchor="ctr"/>
          <a:lstStyle/>
          <a:p>
            <a:pPr marL="0" indent="0">
              <a:lnSpc>
                <a:spcPts val="1700"/>
              </a:lnSpc>
              <a:buNone/>
            </a:pPr>
            <a:r>
              <a:rPr lang="en-US" sz="1500" b="1" dirty="0" err="1">
                <a:solidFill>
                  <a:srgbClr val="D99A4E"/>
                </a:solidFill>
                <a:latin typeface="Calibri" pitchFamily="34" charset="0"/>
                <a:ea typeface="Calibri" pitchFamily="34" charset="-122"/>
                <a:cs typeface="Calibri" pitchFamily="34" charset="-120"/>
              </a:rPr>
              <a:t>Método</a:t>
            </a:r>
            <a:r>
              <a:rPr lang="en-US" sz="1500" b="1" dirty="0">
                <a:solidFill>
                  <a:srgbClr val="D99A4E"/>
                </a:solidFill>
                <a:latin typeface="Calibri" pitchFamily="34" charset="0"/>
                <a:ea typeface="Calibri" pitchFamily="34" charset="-122"/>
                <a:cs typeface="Calibri" pitchFamily="34" charset="-120"/>
              </a:rPr>
              <a:t> para la </a:t>
            </a:r>
            <a:r>
              <a:rPr lang="en-US" sz="1500" b="1" dirty="0" err="1">
                <a:solidFill>
                  <a:srgbClr val="D99A4E"/>
                </a:solidFill>
                <a:latin typeface="Calibri" pitchFamily="34" charset="0"/>
                <a:ea typeface="Calibri" pitchFamily="34" charset="-122"/>
                <a:cs typeface="Calibri" pitchFamily="34" charset="-120"/>
              </a:rPr>
              <a:t>delimitación</a:t>
            </a:r>
            <a:r>
              <a:rPr lang="en-US" sz="1500" b="1" dirty="0">
                <a:solidFill>
                  <a:srgbClr val="D99A4E"/>
                </a:solidFill>
                <a:latin typeface="Calibri" pitchFamily="34" charset="0"/>
                <a:ea typeface="Calibri" pitchFamily="34" charset="-122"/>
                <a:cs typeface="Calibri" pitchFamily="34" charset="-120"/>
              </a:rPr>
              <a:t> de </a:t>
            </a:r>
            <a:r>
              <a:rPr lang="en-US" sz="1500" b="1" dirty="0" err="1">
                <a:solidFill>
                  <a:srgbClr val="D99A4E"/>
                </a:solidFill>
                <a:latin typeface="Calibri" pitchFamily="34" charset="0"/>
                <a:ea typeface="Calibri" pitchFamily="34" charset="-122"/>
                <a:cs typeface="Calibri" pitchFamily="34" charset="-120"/>
              </a:rPr>
              <a:t>áreas</a:t>
            </a:r>
            <a:r>
              <a:rPr lang="en-US" sz="1500" b="1" dirty="0">
                <a:solidFill>
                  <a:srgbClr val="D99A4E"/>
                </a:solidFill>
                <a:latin typeface="Calibri" pitchFamily="34" charset="0"/>
                <a:ea typeface="Calibri" pitchFamily="34" charset="-122"/>
                <a:cs typeface="Calibri" pitchFamily="34" charset="-120"/>
              </a:rPr>
              <a:t> </a:t>
            </a:r>
            <a:r>
              <a:rPr lang="en-US" sz="1500" b="1" dirty="0" err="1">
                <a:solidFill>
                  <a:srgbClr val="D99A4E"/>
                </a:solidFill>
                <a:latin typeface="Calibri" pitchFamily="34" charset="0"/>
                <a:ea typeface="Calibri" pitchFamily="34" charset="-122"/>
                <a:cs typeface="Calibri" pitchFamily="34" charset="-120"/>
              </a:rPr>
              <a:t>potenciales</a:t>
            </a:r>
            <a:r>
              <a:rPr lang="en-US" sz="1500" b="1" dirty="0">
                <a:solidFill>
                  <a:srgbClr val="D99A4E"/>
                </a:solidFill>
                <a:latin typeface="Calibri" pitchFamily="34" charset="0"/>
                <a:ea typeface="Calibri" pitchFamily="34" charset="-122"/>
                <a:cs typeface="Calibri" pitchFamily="34" charset="-120"/>
              </a:rPr>
              <a:t>.  </a:t>
            </a:r>
            <a:r>
              <a:rPr lang="en-US" sz="1350" b="1" dirty="0" err="1">
                <a:solidFill>
                  <a:srgbClr val="E8EFEF"/>
                </a:solidFill>
                <a:latin typeface="Calibri" pitchFamily="34" charset="0"/>
                <a:ea typeface="Calibri" pitchFamily="34" charset="-122"/>
                <a:cs typeface="Calibri" pitchFamily="34" charset="-120"/>
              </a:rPr>
              <a:t>P</a:t>
            </a:r>
            <a:r>
              <a:rPr lang="en-US" sz="1350" dirty="0" err="1">
                <a:solidFill>
                  <a:srgbClr val="E8EFEF"/>
                </a:solidFill>
                <a:latin typeface="Calibri" pitchFamily="34" charset="0"/>
                <a:ea typeface="Calibri" pitchFamily="34" charset="-122"/>
                <a:cs typeface="Calibri" pitchFamily="34" charset="-120"/>
              </a:rPr>
              <a:t>oligonización</a:t>
            </a:r>
            <a:r>
              <a:rPr lang="en-US" sz="1350" dirty="0">
                <a:solidFill>
                  <a:srgbClr val="E8EFEF"/>
                </a:solidFill>
                <a:latin typeface="Calibri" pitchFamily="34" charset="0"/>
                <a:ea typeface="Calibri" pitchFamily="34" charset="-122"/>
                <a:cs typeface="Calibri" pitchFamily="34" charset="-120"/>
              </a:rPr>
              <a:t> de </a:t>
            </a:r>
            <a:r>
              <a:rPr lang="en-US" sz="1350" dirty="0" err="1">
                <a:solidFill>
                  <a:srgbClr val="E8EFEF"/>
                </a:solidFill>
                <a:latin typeface="Calibri" pitchFamily="34" charset="0"/>
                <a:ea typeface="Calibri" pitchFamily="34" charset="-122"/>
                <a:cs typeface="Calibri" pitchFamily="34" charset="-120"/>
              </a:rPr>
              <a:t>anomalías</a:t>
            </a:r>
            <a:r>
              <a:rPr lang="en-US" sz="1350" dirty="0">
                <a:solidFill>
                  <a:srgbClr val="E8EFEF"/>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2333D"/>
        </a:solidFill>
        <a:effectLst/>
      </p:bgPr>
    </p:bg>
    <p:spTree>
      <p:nvGrpSpPr>
        <p:cNvPr id="1" name=""/>
        <p:cNvGrpSpPr/>
        <p:nvPr/>
      </p:nvGrpSpPr>
      <p:grpSpPr>
        <a:xfrm>
          <a:off x="0" y="0"/>
          <a:ext cx="0" cy="0"/>
          <a:chOff x="0" y="0"/>
          <a:chExt cx="0" cy="0"/>
        </a:xfrm>
      </p:grpSpPr>
      <p:sp>
        <p:nvSpPr>
          <p:cNvPr id="2" name="Shape 0"/>
          <p:cNvSpPr/>
          <p:nvPr/>
        </p:nvSpPr>
        <p:spPr>
          <a:xfrm>
            <a:off x="8961120" y="-1463040"/>
            <a:ext cx="4572000" cy="4572000"/>
          </a:xfrm>
          <a:prstGeom prst="ellipse">
            <a:avLst/>
          </a:prstGeom>
          <a:solidFill>
            <a:srgbClr val="1F6E68">
              <a:alpha val="30000"/>
            </a:srgbClr>
          </a:solidFill>
          <a:ln/>
        </p:spPr>
        <p:txBody>
          <a:bodyPr/>
          <a:lstStyle/>
          <a:p>
            <a:endParaRPr lang="es-CO"/>
          </a:p>
        </p:txBody>
      </p:sp>
      <p:sp>
        <p:nvSpPr>
          <p:cNvPr id="3" name="Shape 1"/>
          <p:cNvSpPr/>
          <p:nvPr/>
        </p:nvSpPr>
        <p:spPr>
          <a:xfrm>
            <a:off x="10424160" y="4206240"/>
            <a:ext cx="2926080" cy="2926080"/>
          </a:xfrm>
          <a:prstGeom prst="ellipse">
            <a:avLst/>
          </a:prstGeom>
          <a:solidFill>
            <a:srgbClr val="D99A4E">
              <a:alpha val="18000"/>
            </a:srgbClr>
          </a:solidFill>
          <a:ln/>
        </p:spPr>
        <p:txBody>
          <a:bodyPr/>
          <a:lstStyle/>
          <a:p>
            <a:endParaRPr lang="es-CO"/>
          </a:p>
        </p:txBody>
      </p:sp>
      <p:sp>
        <p:nvSpPr>
          <p:cNvPr id="4" name="Text 2"/>
          <p:cNvSpPr/>
          <p:nvPr/>
        </p:nvSpPr>
        <p:spPr>
          <a:xfrm>
            <a:off x="822960" y="1920240"/>
            <a:ext cx="7315200" cy="109728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Gracias</a:t>
            </a:r>
            <a:endParaRPr lang="en-US" sz="5200" dirty="0"/>
          </a:p>
        </p:txBody>
      </p:sp>
      <p:sp>
        <p:nvSpPr>
          <p:cNvPr id="5" name="Text 3"/>
          <p:cNvSpPr/>
          <p:nvPr/>
        </p:nvSpPr>
        <p:spPr>
          <a:xfrm>
            <a:off x="868680" y="3063240"/>
            <a:ext cx="7315200" cy="548640"/>
          </a:xfrm>
          <a:prstGeom prst="rect">
            <a:avLst/>
          </a:prstGeom>
          <a:noFill/>
          <a:ln/>
        </p:spPr>
        <p:txBody>
          <a:bodyPr wrap="square" lIns="0" tIns="0" rIns="0" bIns="0"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¿Preguntas?</a:t>
            </a:r>
            <a:endParaRPr lang="en-US" sz="2000" dirty="0"/>
          </a:p>
        </p:txBody>
      </p:sp>
      <p:sp>
        <p:nvSpPr>
          <p:cNvPr id="6" name="Shape 4"/>
          <p:cNvSpPr/>
          <p:nvPr/>
        </p:nvSpPr>
        <p:spPr>
          <a:xfrm>
            <a:off x="868680" y="3794760"/>
            <a:ext cx="2743200" cy="0"/>
          </a:xfrm>
          <a:prstGeom prst="line">
            <a:avLst/>
          </a:prstGeom>
          <a:noFill/>
          <a:ln w="25400">
            <a:solidFill>
              <a:srgbClr val="2E8C86"/>
            </a:solidFill>
            <a:prstDash val="solid"/>
          </a:ln>
        </p:spPr>
        <p:txBody>
          <a:bodyPr/>
          <a:lstStyle/>
          <a:p>
            <a:endParaRPr lang="es-CO"/>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1286</Words>
  <Application>Microsoft Office PowerPoint</Application>
  <PresentationFormat>Panorámica</PresentationFormat>
  <Paragraphs>141</Paragraphs>
  <Slides>13</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Diego León Arango Hernández</cp:lastModifiedBy>
  <cp:revision>3</cp:revision>
  <dcterms:created xsi:type="dcterms:W3CDTF">2026-07-12T14:12:13Z</dcterms:created>
  <dcterms:modified xsi:type="dcterms:W3CDTF">2026-07-15T12:28:59Z</dcterms:modified>
</cp:coreProperties>
</file>